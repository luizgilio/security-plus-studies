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w="12700">
            <a:solidFill>
              <a:srgbClr val="F59E0B"/>
            </a:solidFill>
            <a:prstDash val="solid"/>
          </a:ln>
        </p:spPr>
      </p:sp>
      <p:sp>
        <p:nvSpPr>
          <p:cNvPr id="3" name="Shape 1"/>
          <p:cNvSpPr/>
          <p:nvPr/>
        </p:nvSpPr>
        <p:spPr>
          <a:xfrm>
            <a:off x="320040" y="411480"/>
            <a:ext cx="2011680" cy="27432"/>
          </a:xfrm>
          <a:prstGeom prst="rect">
            <a:avLst/>
          </a:prstGeom>
          <a:solidFill>
            <a:srgbClr val="F59E0B"/>
          </a:solidFill>
          <a:ln w="12700">
            <a:solidFill>
              <a:srgbClr val="F59E0B"/>
            </a:solidFill>
            <a:prstDash val="solid"/>
          </a:ln>
        </p:spPr>
      </p:sp>
      <p:sp>
        <p:nvSpPr>
          <p:cNvPr id="4" name="Text 2"/>
          <p:cNvSpPr/>
          <p:nvPr/>
        </p:nvSpPr>
        <p:spPr>
          <a:xfrm>
            <a:off x="320040" y="548640"/>
            <a:ext cx="8229600" cy="274320"/>
          </a:xfrm>
          <a:prstGeom prst="rect">
            <a:avLst/>
          </a:prstGeom>
          <a:noFill/>
          <a:ln/>
        </p:spPr>
        <p:txBody>
          <a:bodyPr wrap="square" rtlCol="0" anchor="ctr"/>
          <a:lstStyle/>
          <a:p>
            <a:pPr indent="0" marL="0">
              <a:buNone/>
            </a:pPr>
            <a:r>
              <a:rPr lang="en-US" sz="850" spc="150" kern="0" dirty="0">
                <a:solidFill>
                  <a:srgbClr val="94A3B8"/>
                </a:solidFill>
                <a:latin typeface="Calibri" pitchFamily="34" charset="0"/>
                <a:ea typeface="Calibri" pitchFamily="34" charset="-122"/>
                <a:cs typeface="Calibri" pitchFamily="34" charset="-120"/>
              </a:rPr>
              <a:t>DOMÍNIO 4  —  SECURITY OPERATIONS</a:t>
            </a:r>
            <a:endParaRPr lang="en-US" sz="850" dirty="0"/>
          </a:p>
        </p:txBody>
      </p:sp>
      <p:sp>
        <p:nvSpPr>
          <p:cNvPr id="5" name="Text 3"/>
          <p:cNvSpPr/>
          <p:nvPr/>
        </p:nvSpPr>
        <p:spPr>
          <a:xfrm>
            <a:off x="320040" y="960120"/>
            <a:ext cx="7772400" cy="1371600"/>
          </a:xfrm>
          <a:prstGeom prst="rect">
            <a:avLst/>
          </a:prstGeom>
          <a:noFill/>
          <a:ln/>
        </p:spPr>
        <p:txBody>
          <a:bodyPr wrap="square" rtlCol="0" anchor="ctr"/>
          <a:lstStyle/>
          <a:p>
            <a:pPr indent="0" marL="0">
              <a:buNone/>
            </a:pPr>
            <a:r>
              <a:rPr lang="en-US" sz="4400" b="1" dirty="0">
                <a:solidFill>
                  <a:srgbClr val="F1F5F9"/>
                </a:solidFill>
                <a:latin typeface="Calibri Light" pitchFamily="34" charset="0"/>
                <a:ea typeface="Calibri Light" pitchFamily="34" charset="-122"/>
                <a:cs typeface="Calibri Light" pitchFamily="34" charset="-120"/>
              </a:rPr>
              <a:t>Security</a:t>
            </a:r>
            <a:endParaRPr lang="en-US" sz="4400" dirty="0"/>
          </a:p>
          <a:p>
            <a:pPr indent="0" marL="0">
              <a:buNone/>
            </a:pPr>
            <a:r>
              <a:rPr lang="en-US" sz="4400" b="1" dirty="0">
                <a:solidFill>
                  <a:srgbClr val="F1F5F9"/>
                </a:solidFill>
                <a:latin typeface="Calibri Light" pitchFamily="34" charset="0"/>
                <a:ea typeface="Calibri Light" pitchFamily="34" charset="-122"/>
                <a:cs typeface="Calibri Light" pitchFamily="34" charset="-120"/>
              </a:rPr>
              <a:t>Operations</a:t>
            </a:r>
            <a:endParaRPr lang="en-US" sz="4400" dirty="0"/>
          </a:p>
        </p:txBody>
      </p:sp>
      <p:sp>
        <p:nvSpPr>
          <p:cNvPr id="6" name="Text 4"/>
          <p:cNvSpPr/>
          <p:nvPr/>
        </p:nvSpPr>
        <p:spPr>
          <a:xfrm>
            <a:off x="320040" y="2331720"/>
            <a:ext cx="7315200" cy="365760"/>
          </a:xfrm>
          <a:prstGeom prst="rect">
            <a:avLst/>
          </a:prstGeom>
          <a:noFill/>
          <a:ln/>
        </p:spPr>
        <p:txBody>
          <a:bodyPr wrap="square" rtlCol="0" anchor="ctr"/>
          <a:lstStyle/>
          <a:p>
            <a:pPr indent="0" marL="0">
              <a:buNone/>
            </a:pPr>
            <a:r>
              <a:rPr lang="en-US" sz="1400" dirty="0">
                <a:solidFill>
                  <a:srgbClr val="F59E0B"/>
                </a:solidFill>
                <a:latin typeface="Calibri" pitchFamily="34" charset="0"/>
                <a:ea typeface="Calibri" pitchFamily="34" charset="-122"/>
                <a:cs typeface="Calibri" pitchFamily="34" charset="-120"/>
              </a:rPr>
              <a:t>Baselines · Hardening · Wireless · MDM · Asset Management</a:t>
            </a:r>
            <a:endParaRPr lang="en-US" sz="1400" dirty="0"/>
          </a:p>
        </p:txBody>
      </p:sp>
      <p:sp>
        <p:nvSpPr>
          <p:cNvPr id="7" name="Shape 5"/>
          <p:cNvSpPr/>
          <p:nvPr/>
        </p:nvSpPr>
        <p:spPr>
          <a:xfrm>
            <a:off x="320040" y="2788920"/>
            <a:ext cx="8503920" cy="13716"/>
          </a:xfrm>
          <a:prstGeom prst="rect">
            <a:avLst/>
          </a:prstGeom>
          <a:solidFill>
            <a:srgbClr val="2A2A2A"/>
          </a:solidFill>
          <a:ln w="12700">
            <a:solidFill>
              <a:srgbClr val="2A2A2A"/>
            </a:solidFill>
            <a:prstDash val="solid"/>
          </a:ln>
        </p:spPr>
      </p:sp>
      <p:sp>
        <p:nvSpPr>
          <p:cNvPr id="8" name="Text 6"/>
          <p:cNvSpPr/>
          <p:nvPr/>
        </p:nvSpPr>
        <p:spPr>
          <a:xfrm>
            <a:off x="320040" y="2907792"/>
            <a:ext cx="8503920" cy="384048"/>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Secure Baselines · SCT · Hardening Targets · MDM · BYOD/COPE/CYOD · WPA2/WPA3 · SAE · 802.1X · RADIUS · EAP · Site Survey · Asset Management · Data Sanitization</a:t>
            </a:r>
            <a:endParaRPr lang="en-US" sz="950" dirty="0"/>
          </a:p>
        </p:txBody>
      </p:sp>
      <p:sp>
        <p:nvSpPr>
          <p:cNvPr id="9" name="Shape 7"/>
          <p:cNvSpPr/>
          <p:nvPr/>
        </p:nvSpPr>
        <p:spPr>
          <a:xfrm>
            <a:off x="0" y="4846320"/>
            <a:ext cx="9144000" cy="297180"/>
          </a:xfrm>
          <a:prstGeom prst="rect">
            <a:avLst/>
          </a:prstGeom>
          <a:solidFill>
            <a:srgbClr val="1F1F1F"/>
          </a:solidFill>
          <a:ln w="12700">
            <a:solidFill>
              <a:srgbClr val="1F1F1F"/>
            </a:solidFill>
            <a:prstDash val="solid"/>
          </a:ln>
        </p:spPr>
      </p:sp>
      <p:sp>
        <p:nvSpPr>
          <p:cNvPr id="10" name="Text 8"/>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Luiz Otavio Gonçalves Gilio  ·  Security+ SY0-701  ·  github.com/LuizGilio</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6B6D4"/>
          </a:solidFill>
          <a:ln w="12700">
            <a:solidFill>
              <a:srgbClr val="06B6D4"/>
            </a:solidFill>
            <a:prstDash val="solid"/>
          </a:ln>
        </p:spPr>
      </p:sp>
      <p:sp>
        <p:nvSpPr>
          <p:cNvPr id="3" name="Text 1"/>
          <p:cNvSpPr/>
          <p:nvPr/>
        </p:nvSpPr>
        <p:spPr>
          <a:xfrm>
            <a:off x="320040" y="256032"/>
            <a:ext cx="8229600" cy="475488"/>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Secure Baselines</a:t>
            </a:r>
            <a:endParaRPr lang="en-US" sz="2200" dirty="0"/>
          </a:p>
        </p:txBody>
      </p:sp>
      <p:sp>
        <p:nvSpPr>
          <p:cNvPr id="4" name="Text 2"/>
          <p:cNvSpPr/>
          <p:nvPr/>
        </p:nvSpPr>
        <p:spPr>
          <a:xfrm>
            <a:off x="320040" y="749808"/>
            <a:ext cx="8229600" cy="256032"/>
          </a:xfrm>
          <a:prstGeom prst="rect">
            <a:avLst/>
          </a:prstGeom>
          <a:noFill/>
          <a:ln/>
        </p:spPr>
        <p:txBody>
          <a:bodyPr wrap="square" rtlCol="0" anchor="ctr"/>
          <a:lstStyle/>
          <a:p>
            <a:pPr indent="0" marL="0">
              <a:buNone/>
            </a:pPr>
            <a:r>
              <a:rPr lang="en-US" sz="850" b="1" spc="100" kern="0" dirty="0">
                <a:solidFill>
                  <a:srgbClr val="06B6D4"/>
                </a:solidFill>
                <a:latin typeface="Calibri" pitchFamily="34" charset="0"/>
                <a:ea typeface="Calibri" pitchFamily="34" charset="-122"/>
                <a:cs typeface="Calibri" pitchFamily="34" charset="-120"/>
              </a:rPr>
              <a:t>SECURITY BASELINE  ·  SCT  ·  GROUP POLICY  ·  MDM  ·  DEPLOY  ·  AUDIT</a:t>
            </a:r>
            <a:endParaRPr lang="en-US" sz="850" dirty="0"/>
          </a:p>
        </p:txBody>
      </p:sp>
      <p:sp>
        <p:nvSpPr>
          <p:cNvPr id="5" name="Shape 3"/>
          <p:cNvSpPr/>
          <p:nvPr/>
        </p:nvSpPr>
        <p:spPr>
          <a:xfrm>
            <a:off x="320040" y="1051560"/>
            <a:ext cx="8503920" cy="13716"/>
          </a:xfrm>
          <a:prstGeom prst="rect">
            <a:avLst/>
          </a:prstGeom>
          <a:solidFill>
            <a:srgbClr val="2A2A2A"/>
          </a:solidFill>
          <a:ln w="12700">
            <a:solidFill>
              <a:srgbClr val="2A2A2A"/>
            </a:solidFill>
            <a:prstDash val="solid"/>
          </a:ln>
        </p:spPr>
      </p:sp>
      <p:sp>
        <p:nvSpPr>
          <p:cNvPr id="6" name="Shape 4"/>
          <p:cNvSpPr/>
          <p:nvPr/>
        </p:nvSpPr>
        <p:spPr>
          <a:xfrm>
            <a:off x="320040" y="1115568"/>
            <a:ext cx="8503920" cy="457200"/>
          </a:xfrm>
          <a:prstGeom prst="rect">
            <a:avLst/>
          </a:prstGeom>
          <a:solidFill>
            <a:srgbClr val="1F1F1F"/>
          </a:solidFill>
          <a:ln w="6350">
            <a:solidFill>
              <a:srgbClr val="2A2A2A"/>
            </a:solidFill>
            <a:prstDash val="solid"/>
          </a:ln>
        </p:spPr>
      </p:sp>
      <p:sp>
        <p:nvSpPr>
          <p:cNvPr id="7" name="Shape 5"/>
          <p:cNvSpPr/>
          <p:nvPr/>
        </p:nvSpPr>
        <p:spPr>
          <a:xfrm>
            <a:off x="320040" y="1115568"/>
            <a:ext cx="36576" cy="457200"/>
          </a:xfrm>
          <a:prstGeom prst="rect">
            <a:avLst/>
          </a:prstGeom>
          <a:solidFill>
            <a:srgbClr val="06B6D4"/>
          </a:solidFill>
          <a:ln w="12700">
            <a:solidFill>
              <a:srgbClr val="06B6D4"/>
            </a:solidFill>
            <a:prstDash val="solid"/>
          </a:ln>
        </p:spPr>
      </p:sp>
      <p:sp>
        <p:nvSpPr>
          <p:cNvPr id="8" name="Text 6"/>
          <p:cNvSpPr/>
          <p:nvPr/>
        </p:nvSpPr>
        <p:spPr>
          <a:xfrm>
            <a:off x="502920" y="1115568"/>
            <a:ext cx="8229600" cy="45720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Baseline de segurança = conjunto mínimo de configurações que todo sistema deve ter ao ser implantado. Cada instância de aplicativo deve ser acompanhada de suas baselines. Windows 10 tem mais de 3.000 configurações de Group Policy — apenas um subconjunto é de segurança.</a:t>
            </a:r>
            <a:endParaRPr lang="en-US" sz="1050" dirty="0"/>
          </a:p>
        </p:txBody>
      </p:sp>
      <p:sp>
        <p:nvSpPr>
          <p:cNvPr id="9" name="Shape 7"/>
          <p:cNvSpPr/>
          <p:nvPr/>
        </p:nvSpPr>
        <p:spPr>
          <a:xfrm>
            <a:off x="320040" y="1719072"/>
            <a:ext cx="4114800" cy="2944368"/>
          </a:xfrm>
          <a:prstGeom prst="rect">
            <a:avLst/>
          </a:prstGeom>
          <a:solidFill>
            <a:srgbClr val="1F1F1F"/>
          </a:solidFill>
          <a:ln w="6350">
            <a:solidFill>
              <a:srgbClr val="2A2A2A"/>
            </a:solidFill>
            <a:prstDash val="solid"/>
          </a:ln>
        </p:spPr>
      </p:sp>
      <p:sp>
        <p:nvSpPr>
          <p:cNvPr id="10" name="Shape 8"/>
          <p:cNvSpPr/>
          <p:nvPr/>
        </p:nvSpPr>
        <p:spPr>
          <a:xfrm>
            <a:off x="320040" y="1719072"/>
            <a:ext cx="36576" cy="2944368"/>
          </a:xfrm>
          <a:prstGeom prst="rect">
            <a:avLst/>
          </a:prstGeom>
          <a:solidFill>
            <a:srgbClr val="06B6D4"/>
          </a:solidFill>
          <a:ln w="12700">
            <a:solidFill>
              <a:srgbClr val="06B6D4"/>
            </a:solidFill>
            <a:prstDash val="solid"/>
          </a:ln>
        </p:spPr>
      </p:sp>
      <p:sp>
        <p:nvSpPr>
          <p:cNvPr id="11" name="Text 9"/>
          <p:cNvSpPr/>
          <p:nvPr/>
        </p:nvSpPr>
        <p:spPr>
          <a:xfrm>
            <a:off x="457200" y="1810512"/>
            <a:ext cx="3913632" cy="228600"/>
          </a:xfrm>
          <a:prstGeom prst="rect">
            <a:avLst/>
          </a:prstGeom>
          <a:noFill/>
          <a:ln/>
        </p:spPr>
        <p:txBody>
          <a:bodyPr wrap="square" rtlCol="0" anchor="ctr"/>
          <a:lstStyle/>
          <a:p>
            <a:pPr indent="0" marL="0">
              <a:buNone/>
            </a:pPr>
            <a:r>
              <a:rPr lang="en-US" sz="800" b="1" spc="80" kern="0" dirty="0">
                <a:solidFill>
                  <a:srgbClr val="06B6D4"/>
                </a:solidFill>
                <a:latin typeface="Calibri" pitchFamily="34" charset="0"/>
                <a:ea typeface="Calibri" pitchFamily="34" charset="-122"/>
                <a:cs typeface="Calibri" pitchFamily="34" charset="-120"/>
              </a:rPr>
              <a:t>CRIAÇÃO E FONTES DE BASELINE</a:t>
            </a:r>
            <a:endParaRPr lang="en-US" sz="800" dirty="0"/>
          </a:p>
        </p:txBody>
      </p:sp>
      <p:sp>
        <p:nvSpPr>
          <p:cNvPr id="12" name="Shape 10"/>
          <p:cNvSpPr/>
          <p:nvPr/>
        </p:nvSpPr>
        <p:spPr>
          <a:xfrm>
            <a:off x="457200" y="2066544"/>
            <a:ext cx="3886200" cy="13716"/>
          </a:xfrm>
          <a:prstGeom prst="rect">
            <a:avLst/>
          </a:prstGeom>
          <a:solidFill>
            <a:srgbClr val="2A2A2A"/>
          </a:solidFill>
          <a:ln w="12700">
            <a:solidFill>
              <a:srgbClr val="2A2A2A"/>
            </a:solidFill>
            <a:prstDash val="solid"/>
          </a:ln>
        </p:spPr>
      </p:sp>
      <p:sp>
        <p:nvSpPr>
          <p:cNvPr id="13" name="Text 11"/>
          <p:cNvSpPr/>
          <p:nvPr/>
        </p:nvSpPr>
        <p:spPr>
          <a:xfrm>
            <a:off x="457200" y="2139696"/>
            <a:ext cx="3886200" cy="2432304"/>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Fabricante do aplicativo — permissões de arquivos e configurações internas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Fabricante do SO — Microsoft disponibiliza baselines para Windows/Server</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Fabricantes de appliances — configurações de segurança adicionais</a:t>
            </a:r>
            <a:endParaRPr lang="en-US" sz="1050" dirty="0"/>
          </a:p>
          <a:p>
            <a:pPr marL="342900" indent="-342900">
              <a:buSzPct val="100000"/>
              <a:buChar char="•"/>
            </a:pPr>
            <a:r>
              <a:rPr lang="en-US" sz="1050" b="1" dirty="0">
                <a:solidFill>
                  <a:srgbClr val="06B6D4"/>
                </a:solidFill>
                <a:latin typeface="Calibri" pitchFamily="34" charset="0"/>
                <a:ea typeface="Calibri" pitchFamily="34" charset="-122"/>
                <a:cs typeface="Calibri" pitchFamily="34" charset="-120"/>
              </a:rPr>
              <a:t>Security Compliance Toolkit (SCT) — ferramenta Microsoft para deploy de baselines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CIS Benchmarks — referência da comunidade para qualquer SO ou aplicação</a:t>
            </a:r>
            <a:endParaRPr lang="en-US" sz="1050" dirty="0"/>
          </a:p>
          <a:p>
            <a:pPr marL="342900" indent="-342900">
              <a:buSzPct val="100000"/>
              <a:buChar char="•"/>
            </a:pPr>
            <a:r>
              <a:rPr lang="en-US" sz="1050" b="1" dirty="0">
                <a:solidFill>
                  <a:srgbClr val="F59E0B"/>
                </a:solidFill>
                <a:latin typeface="Calibri" pitchFamily="34" charset="0"/>
                <a:ea typeface="Calibri" pitchFamily="34" charset="-122"/>
                <a:cs typeface="Calibri" pitchFamily="34" charset="-120"/>
              </a:rPr>
              <a:t>Pode haver conflito entre baselines de fabricantes diferentes — avaliar e decidir</a:t>
            </a:r>
            <a:endParaRPr lang="en-US" sz="1050" dirty="0"/>
          </a:p>
        </p:txBody>
      </p:sp>
      <p:sp>
        <p:nvSpPr>
          <p:cNvPr id="14" name="Shape 12"/>
          <p:cNvSpPr/>
          <p:nvPr/>
        </p:nvSpPr>
        <p:spPr>
          <a:xfrm>
            <a:off x="4663440" y="1719072"/>
            <a:ext cx="4160520" cy="2944368"/>
          </a:xfrm>
          <a:prstGeom prst="rect">
            <a:avLst/>
          </a:prstGeom>
          <a:solidFill>
            <a:srgbClr val="1F1F1F"/>
          </a:solidFill>
          <a:ln w="6350">
            <a:solidFill>
              <a:srgbClr val="2A2A2A"/>
            </a:solidFill>
            <a:prstDash val="solid"/>
          </a:ln>
        </p:spPr>
      </p:sp>
      <p:sp>
        <p:nvSpPr>
          <p:cNvPr id="15" name="Shape 13"/>
          <p:cNvSpPr/>
          <p:nvPr/>
        </p:nvSpPr>
        <p:spPr>
          <a:xfrm>
            <a:off x="4663440" y="1719072"/>
            <a:ext cx="36576" cy="2944368"/>
          </a:xfrm>
          <a:prstGeom prst="rect">
            <a:avLst/>
          </a:prstGeom>
          <a:solidFill>
            <a:srgbClr val="8B5CF6"/>
          </a:solidFill>
          <a:ln w="12700">
            <a:solidFill>
              <a:srgbClr val="8B5CF6"/>
            </a:solidFill>
            <a:prstDash val="solid"/>
          </a:ln>
        </p:spPr>
      </p:sp>
      <p:sp>
        <p:nvSpPr>
          <p:cNvPr id="16" name="Text 14"/>
          <p:cNvSpPr/>
          <p:nvPr/>
        </p:nvSpPr>
        <p:spPr>
          <a:xfrm>
            <a:off x="4800600" y="1810512"/>
            <a:ext cx="3959352" cy="228600"/>
          </a:xfrm>
          <a:prstGeom prst="rect">
            <a:avLst/>
          </a:prstGeom>
          <a:noFill/>
          <a:ln/>
        </p:spPr>
        <p:txBody>
          <a:bodyPr wrap="square" rtlCol="0" anchor="ctr"/>
          <a:lstStyle/>
          <a:p>
            <a:pPr indent="0" marL="0">
              <a:buNone/>
            </a:pPr>
            <a:r>
              <a:rPr lang="en-US" sz="800" b="1" spc="80" kern="0" dirty="0">
                <a:solidFill>
                  <a:srgbClr val="8B5CF6"/>
                </a:solidFill>
                <a:latin typeface="Calibri" pitchFamily="34" charset="0"/>
                <a:ea typeface="Calibri" pitchFamily="34" charset="-122"/>
                <a:cs typeface="Calibri" pitchFamily="34" charset="-120"/>
              </a:rPr>
              <a:t>DEPLOY E MANUTENÇÃO</a:t>
            </a:r>
            <a:endParaRPr lang="en-US" sz="800" dirty="0"/>
          </a:p>
        </p:txBody>
      </p:sp>
      <p:sp>
        <p:nvSpPr>
          <p:cNvPr id="17" name="Shape 15"/>
          <p:cNvSpPr/>
          <p:nvPr/>
        </p:nvSpPr>
        <p:spPr>
          <a:xfrm>
            <a:off x="4800600" y="2066544"/>
            <a:ext cx="3931920" cy="13716"/>
          </a:xfrm>
          <a:prstGeom prst="rect">
            <a:avLst/>
          </a:prstGeom>
          <a:solidFill>
            <a:srgbClr val="2A2A2A"/>
          </a:solidFill>
          <a:ln w="12700">
            <a:solidFill>
              <a:srgbClr val="2A2A2A"/>
            </a:solidFill>
            <a:prstDash val="solid"/>
          </a:ln>
        </p:spPr>
      </p:sp>
      <p:sp>
        <p:nvSpPr>
          <p:cNvPr id="18" name="Text 16"/>
          <p:cNvSpPr/>
          <p:nvPr/>
        </p:nvSpPr>
        <p:spPr>
          <a:xfrm>
            <a:off x="4800600" y="2139696"/>
            <a:ext cx="3931920" cy="2432304"/>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Deploy via console central (SCT), Group Policy (AD) ou MDM para móveis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Processo automatizado — deploy em centenas/milhares de dispositivos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Baselines raramente mudam após implantadas — manutenção baixa</a:t>
            </a:r>
            <a:endParaRPr lang="en-US" sz="1050" dirty="0"/>
          </a:p>
          <a:p>
            <a:pPr marL="342900" indent="-342900">
              <a:buSzPct val="100000"/>
              <a:buChar char="•"/>
            </a:pPr>
            <a:r>
              <a:rPr lang="en-US" sz="1050" b="1" dirty="0">
                <a:solidFill>
                  <a:srgbClr val="F1F5F9"/>
                </a:solidFill>
                <a:latin typeface="Calibri" pitchFamily="34" charset="0"/>
                <a:ea typeface="Calibri" pitchFamily="34" charset="-122"/>
                <a:cs typeface="Calibri" pitchFamily="34" charset="-120"/>
              </a:rPr>
              <a:t>Quando atualizar baseline:</a:t>
            </a:r>
            <a:endParaRPr lang="en-US" sz="1050" dirty="0"/>
          </a:p>
          <a:p>
            <a:pPr marL="342900" indent="-342900">
              <a:buSzPct val="100000"/>
              <a:buChar char="•"/>
            </a:pPr>
            <a:r>
              <a:rPr lang="en-US" sz="1050" dirty="0">
                <a:solidFill>
                  <a:srgbClr val="EF4444"/>
                </a:solidFill>
                <a:latin typeface="Calibri" pitchFamily="34" charset="0"/>
                <a:ea typeface="Calibri" pitchFamily="34" charset="-122"/>
                <a:cs typeface="Calibri" pitchFamily="34" charset="-120"/>
              </a:rPr>
              <a:t>Nova vulnerabilidade descoberta no app ou SO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Aplicativo ou SO atualizado com mudanças de config</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Instalação de novo SO — exige baseline completamente nova</a:t>
            </a:r>
            <a:endParaRPr lang="en-US" sz="1050" dirty="0"/>
          </a:p>
          <a:p>
            <a:pPr marL="342900" indent="-342900">
              <a:buSzPct val="100000"/>
              <a:buChar char="•"/>
            </a:pPr>
            <a:r>
              <a:rPr lang="en-US" sz="1050" b="1" dirty="0">
                <a:solidFill>
                  <a:srgbClr val="F59E0B"/>
                </a:solidFill>
                <a:latin typeface="Calibri" pitchFamily="34" charset="0"/>
                <a:ea typeface="Calibri" pitchFamily="34" charset="-122"/>
                <a:cs typeface="Calibri" pitchFamily="34" charset="-120"/>
              </a:rPr>
              <a:t>Auditar regularmente — verificar se baselines ainda estão em vigor</a:t>
            </a:r>
            <a:endParaRPr lang="en-US" sz="1050" dirty="0"/>
          </a:p>
        </p:txBody>
      </p:sp>
      <p:sp>
        <p:nvSpPr>
          <p:cNvPr id="19" name="Shape 17"/>
          <p:cNvSpPr/>
          <p:nvPr/>
        </p:nvSpPr>
        <p:spPr>
          <a:xfrm>
            <a:off x="0" y="4846320"/>
            <a:ext cx="9144000" cy="297180"/>
          </a:xfrm>
          <a:prstGeom prst="rect">
            <a:avLst/>
          </a:prstGeom>
          <a:solidFill>
            <a:srgbClr val="1F1F1F"/>
          </a:solidFill>
          <a:ln w="12700">
            <a:solidFill>
              <a:srgbClr val="1F1F1F"/>
            </a:solidFill>
            <a:prstDash val="solid"/>
          </a:ln>
        </p:spPr>
      </p:sp>
      <p:sp>
        <p:nvSpPr>
          <p:cNvPr id="20" name="Text 18"/>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Security+ SY0-701  ·  Domínio 4  ·  Security Operations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F4444"/>
          </a:solidFill>
          <a:ln w="12700">
            <a:solidFill>
              <a:srgbClr val="EF4444"/>
            </a:solidFill>
            <a:prstDash val="solid"/>
          </a:ln>
        </p:spPr>
      </p:sp>
      <p:sp>
        <p:nvSpPr>
          <p:cNvPr id="3" name="Text 1"/>
          <p:cNvSpPr/>
          <p:nvPr/>
        </p:nvSpPr>
        <p:spPr>
          <a:xfrm>
            <a:off x="320040" y="256032"/>
            <a:ext cx="8229600" cy="475488"/>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Hardening de Alvos</a:t>
            </a:r>
            <a:endParaRPr lang="en-US" sz="2200" dirty="0"/>
          </a:p>
        </p:txBody>
      </p:sp>
      <p:sp>
        <p:nvSpPr>
          <p:cNvPr id="4" name="Text 2"/>
          <p:cNvSpPr/>
          <p:nvPr/>
        </p:nvSpPr>
        <p:spPr>
          <a:xfrm>
            <a:off x="320040" y="749808"/>
            <a:ext cx="8229600" cy="256032"/>
          </a:xfrm>
          <a:prstGeom prst="rect">
            <a:avLst/>
          </a:prstGeom>
          <a:noFill/>
          <a:ln/>
        </p:spPr>
        <p:txBody>
          <a:bodyPr wrap="square" rtlCol="0" anchor="ctr"/>
          <a:lstStyle/>
          <a:p>
            <a:pPr indent="0" marL="0">
              <a:buNone/>
            </a:pPr>
            <a:r>
              <a:rPr lang="en-US" sz="850" b="1" spc="100" kern="0" dirty="0">
                <a:solidFill>
                  <a:srgbClr val="EF4444"/>
                </a:solidFill>
                <a:latin typeface="Calibri" pitchFamily="34" charset="0"/>
                <a:ea typeface="Calibri" pitchFamily="34" charset="-122"/>
                <a:cs typeface="Calibri" pitchFamily="34" charset="-120"/>
              </a:rPr>
              <a:t>MOBILE  ·  WORKSTATION  ·  SERVERS  ·  NETWORK  ·  CLOUD  ·  SCADA  ·  IoT</a:t>
            </a:r>
            <a:endParaRPr lang="en-US" sz="850" dirty="0"/>
          </a:p>
        </p:txBody>
      </p:sp>
      <p:sp>
        <p:nvSpPr>
          <p:cNvPr id="5" name="Shape 3"/>
          <p:cNvSpPr/>
          <p:nvPr/>
        </p:nvSpPr>
        <p:spPr>
          <a:xfrm>
            <a:off x="320040" y="1051560"/>
            <a:ext cx="8503920" cy="13716"/>
          </a:xfrm>
          <a:prstGeom prst="rect">
            <a:avLst/>
          </a:prstGeom>
          <a:solidFill>
            <a:srgbClr val="2A2A2A"/>
          </a:solidFill>
          <a:ln w="12700">
            <a:solidFill>
              <a:srgbClr val="2A2A2A"/>
            </a:solidFill>
            <a:prstDash val="solid"/>
          </a:ln>
        </p:spPr>
      </p:sp>
      <p:sp>
        <p:nvSpPr>
          <p:cNvPr id="6" name="Shape 4"/>
          <p:cNvSpPr/>
          <p:nvPr/>
        </p:nvSpPr>
        <p:spPr>
          <a:xfrm>
            <a:off x="320040" y="1170432"/>
            <a:ext cx="4251960" cy="804672"/>
          </a:xfrm>
          <a:prstGeom prst="rect">
            <a:avLst/>
          </a:prstGeom>
          <a:solidFill>
            <a:srgbClr val="1F1F1F"/>
          </a:solidFill>
          <a:ln w="3810">
            <a:solidFill>
              <a:srgbClr val="2A2A2A"/>
            </a:solidFill>
            <a:prstDash val="solid"/>
          </a:ln>
        </p:spPr>
      </p:sp>
      <p:sp>
        <p:nvSpPr>
          <p:cNvPr id="7" name="Shape 5"/>
          <p:cNvSpPr/>
          <p:nvPr/>
        </p:nvSpPr>
        <p:spPr>
          <a:xfrm>
            <a:off x="320040" y="1261872"/>
            <a:ext cx="27432" cy="621792"/>
          </a:xfrm>
          <a:prstGeom prst="rect">
            <a:avLst/>
          </a:prstGeom>
          <a:solidFill>
            <a:srgbClr val="06B6D4"/>
          </a:solidFill>
          <a:ln w="12700">
            <a:solidFill>
              <a:srgbClr val="06B6D4"/>
            </a:solidFill>
            <a:prstDash val="solid"/>
          </a:ln>
        </p:spPr>
      </p:sp>
      <p:sp>
        <p:nvSpPr>
          <p:cNvPr id="8" name="Text 6"/>
          <p:cNvSpPr/>
          <p:nvPr/>
        </p:nvSpPr>
        <p:spPr>
          <a:xfrm>
            <a:off x="457200" y="1225296"/>
            <a:ext cx="4023360" cy="237744"/>
          </a:xfrm>
          <a:prstGeom prst="rect">
            <a:avLst/>
          </a:prstGeom>
          <a:noFill/>
          <a:ln/>
        </p:spPr>
        <p:txBody>
          <a:bodyPr wrap="square" rtlCol="0" anchor="ctr"/>
          <a:lstStyle/>
          <a:p>
            <a:pPr indent="0" marL="0">
              <a:buNone/>
            </a:pPr>
            <a:r>
              <a:rPr lang="en-US" sz="950" b="1" dirty="0">
                <a:solidFill>
                  <a:srgbClr val="06B6D4"/>
                </a:solidFill>
                <a:latin typeface="Calibri" pitchFamily="34" charset="0"/>
                <a:ea typeface="Calibri" pitchFamily="34" charset="-122"/>
                <a:cs typeface="Calibri" pitchFamily="34" charset="-120"/>
              </a:rPr>
              <a:t>Dispositivos Móveis</a:t>
            </a:r>
            <a:endParaRPr lang="en-US" sz="950" dirty="0"/>
          </a:p>
        </p:txBody>
      </p:sp>
      <p:sp>
        <p:nvSpPr>
          <p:cNvPr id="9" name="Text 7"/>
          <p:cNvSpPr/>
          <p:nvPr/>
        </p:nvSpPr>
        <p:spPr>
          <a:xfrm>
            <a:off x="457200" y="14813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Patches + MDM para policies. Segregar dados corporativos de pessoais. Segmentação de rede para BYOD.</a:t>
            </a:r>
            <a:endParaRPr lang="en-US" sz="900" dirty="0"/>
          </a:p>
        </p:txBody>
      </p:sp>
      <p:sp>
        <p:nvSpPr>
          <p:cNvPr id="10" name="Shape 8"/>
          <p:cNvSpPr/>
          <p:nvPr/>
        </p:nvSpPr>
        <p:spPr>
          <a:xfrm>
            <a:off x="4754880" y="1170432"/>
            <a:ext cx="4251960" cy="804672"/>
          </a:xfrm>
          <a:prstGeom prst="rect">
            <a:avLst/>
          </a:prstGeom>
          <a:solidFill>
            <a:srgbClr val="1F1F1F"/>
          </a:solidFill>
          <a:ln w="3810">
            <a:solidFill>
              <a:srgbClr val="2A2A2A"/>
            </a:solidFill>
            <a:prstDash val="solid"/>
          </a:ln>
        </p:spPr>
      </p:sp>
      <p:sp>
        <p:nvSpPr>
          <p:cNvPr id="11" name="Shape 9"/>
          <p:cNvSpPr/>
          <p:nvPr/>
        </p:nvSpPr>
        <p:spPr>
          <a:xfrm>
            <a:off x="4754880" y="1261872"/>
            <a:ext cx="27432" cy="621792"/>
          </a:xfrm>
          <a:prstGeom prst="rect">
            <a:avLst/>
          </a:prstGeom>
          <a:solidFill>
            <a:srgbClr val="F59E0B"/>
          </a:solidFill>
          <a:ln w="12700">
            <a:solidFill>
              <a:srgbClr val="F59E0B"/>
            </a:solidFill>
            <a:prstDash val="solid"/>
          </a:ln>
        </p:spPr>
      </p:sp>
      <p:sp>
        <p:nvSpPr>
          <p:cNvPr id="12" name="Text 10"/>
          <p:cNvSpPr/>
          <p:nvPr/>
        </p:nvSpPr>
        <p:spPr>
          <a:xfrm>
            <a:off x="4892040" y="1225296"/>
            <a:ext cx="4023360" cy="237744"/>
          </a:xfrm>
          <a:prstGeom prst="rect">
            <a:avLst/>
          </a:prstGeom>
          <a:noFill/>
          <a:ln/>
        </p:spPr>
        <p:txBody>
          <a:bodyPr wrap="square"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Estações de Trabalho</a:t>
            </a:r>
            <a:endParaRPr lang="en-US" sz="950" dirty="0"/>
          </a:p>
        </p:txBody>
      </p:sp>
      <p:sp>
        <p:nvSpPr>
          <p:cNvPr id="13" name="Text 11"/>
          <p:cNvSpPr/>
          <p:nvPr/>
        </p:nvSpPr>
        <p:spPr>
          <a:xfrm>
            <a:off x="4892040" y="14813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Patches de SO, apps e firmware. Remover software desnecessário — cada app é superfície de ataque.</a:t>
            </a:r>
            <a:endParaRPr lang="en-US" sz="900" dirty="0"/>
          </a:p>
        </p:txBody>
      </p:sp>
      <p:sp>
        <p:nvSpPr>
          <p:cNvPr id="14" name="Shape 12"/>
          <p:cNvSpPr/>
          <p:nvPr/>
        </p:nvSpPr>
        <p:spPr>
          <a:xfrm>
            <a:off x="320040" y="2084832"/>
            <a:ext cx="4251960" cy="804672"/>
          </a:xfrm>
          <a:prstGeom prst="rect">
            <a:avLst/>
          </a:prstGeom>
          <a:solidFill>
            <a:srgbClr val="1F1F1F"/>
          </a:solidFill>
          <a:ln w="3810">
            <a:solidFill>
              <a:srgbClr val="2A2A2A"/>
            </a:solidFill>
            <a:prstDash val="solid"/>
          </a:ln>
        </p:spPr>
      </p:sp>
      <p:sp>
        <p:nvSpPr>
          <p:cNvPr id="15" name="Shape 13"/>
          <p:cNvSpPr/>
          <p:nvPr/>
        </p:nvSpPr>
        <p:spPr>
          <a:xfrm>
            <a:off x="320040" y="2176272"/>
            <a:ext cx="27432" cy="621792"/>
          </a:xfrm>
          <a:prstGeom prst="rect">
            <a:avLst/>
          </a:prstGeom>
          <a:solidFill>
            <a:srgbClr val="EF4444"/>
          </a:solidFill>
          <a:ln w="12700">
            <a:solidFill>
              <a:srgbClr val="EF4444"/>
            </a:solidFill>
            <a:prstDash val="solid"/>
          </a:ln>
        </p:spPr>
      </p:sp>
      <p:sp>
        <p:nvSpPr>
          <p:cNvPr id="16" name="Text 14"/>
          <p:cNvSpPr/>
          <p:nvPr/>
        </p:nvSpPr>
        <p:spPr>
          <a:xfrm>
            <a:off x="457200" y="2139696"/>
            <a:ext cx="4023360" cy="237744"/>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Servidores</a:t>
            </a:r>
            <a:endParaRPr lang="en-US" sz="950" dirty="0"/>
          </a:p>
        </p:txBody>
      </p:sp>
      <p:sp>
        <p:nvSpPr>
          <p:cNvPr id="17" name="Text 15"/>
          <p:cNvSpPr/>
          <p:nvPr/>
        </p:nvSpPr>
        <p:spPr>
          <a:xfrm>
            <a:off x="457200" y="23957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Patches e service packs. Senhas complexas. Desabilitar contas não usadas. Limitar acesso por IP/firewall.</a:t>
            </a:r>
            <a:endParaRPr lang="en-US" sz="900" dirty="0"/>
          </a:p>
        </p:txBody>
      </p:sp>
      <p:sp>
        <p:nvSpPr>
          <p:cNvPr id="18" name="Shape 16"/>
          <p:cNvSpPr/>
          <p:nvPr/>
        </p:nvSpPr>
        <p:spPr>
          <a:xfrm>
            <a:off x="4754880" y="2084832"/>
            <a:ext cx="4251960" cy="804672"/>
          </a:xfrm>
          <a:prstGeom prst="rect">
            <a:avLst/>
          </a:prstGeom>
          <a:solidFill>
            <a:srgbClr val="1F1F1F"/>
          </a:solidFill>
          <a:ln w="3810">
            <a:solidFill>
              <a:srgbClr val="2A2A2A"/>
            </a:solidFill>
            <a:prstDash val="solid"/>
          </a:ln>
        </p:spPr>
      </p:sp>
      <p:sp>
        <p:nvSpPr>
          <p:cNvPr id="19" name="Shape 17"/>
          <p:cNvSpPr/>
          <p:nvPr/>
        </p:nvSpPr>
        <p:spPr>
          <a:xfrm>
            <a:off x="4754880" y="2176272"/>
            <a:ext cx="27432" cy="621792"/>
          </a:xfrm>
          <a:prstGeom prst="rect">
            <a:avLst/>
          </a:prstGeom>
          <a:solidFill>
            <a:srgbClr val="8B5CF6"/>
          </a:solidFill>
          <a:ln w="12700">
            <a:solidFill>
              <a:srgbClr val="8B5CF6"/>
            </a:solidFill>
            <a:prstDash val="solid"/>
          </a:ln>
        </p:spPr>
      </p:sp>
      <p:sp>
        <p:nvSpPr>
          <p:cNvPr id="20" name="Text 18"/>
          <p:cNvSpPr/>
          <p:nvPr/>
        </p:nvSpPr>
        <p:spPr>
          <a:xfrm>
            <a:off x="4892040" y="2139696"/>
            <a:ext cx="4023360" cy="237744"/>
          </a:xfrm>
          <a:prstGeom prst="rect">
            <a:avLst/>
          </a:prstGeom>
          <a:noFill/>
          <a:ln/>
        </p:spPr>
        <p:txBody>
          <a:bodyPr wrap="square" rtlCol="0" anchor="ctr"/>
          <a:lstStyle/>
          <a:p>
            <a:pPr indent="0" marL="0">
              <a:buNone/>
            </a:pPr>
            <a:r>
              <a:rPr lang="en-US" sz="950" b="1" dirty="0">
                <a:solidFill>
                  <a:srgbClr val="8B5CF6"/>
                </a:solidFill>
                <a:latin typeface="Calibri" pitchFamily="34" charset="0"/>
                <a:ea typeface="Calibri" pitchFamily="34" charset="-122"/>
                <a:cs typeface="Calibri" pitchFamily="34" charset="-120"/>
              </a:rPr>
              <a:t>Infraestrutura de Rede</a:t>
            </a:r>
            <a:endParaRPr lang="en-US" sz="950" dirty="0"/>
          </a:p>
        </p:txBody>
      </p:sp>
      <p:sp>
        <p:nvSpPr>
          <p:cNvPr id="21" name="Text 19"/>
          <p:cNvSpPr/>
          <p:nvPr/>
        </p:nvSpPr>
        <p:spPr>
          <a:xfrm>
            <a:off x="4892040" y="23957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SO proprietário (não Windows/Linux). Alterar credenciais padrão. Patches raros mas críticos quando lançados.</a:t>
            </a:r>
            <a:endParaRPr lang="en-US" sz="900" dirty="0"/>
          </a:p>
        </p:txBody>
      </p:sp>
      <p:sp>
        <p:nvSpPr>
          <p:cNvPr id="22" name="Shape 20"/>
          <p:cNvSpPr/>
          <p:nvPr/>
        </p:nvSpPr>
        <p:spPr>
          <a:xfrm>
            <a:off x="320040" y="2999232"/>
            <a:ext cx="4251960" cy="804672"/>
          </a:xfrm>
          <a:prstGeom prst="rect">
            <a:avLst/>
          </a:prstGeom>
          <a:solidFill>
            <a:srgbClr val="1F1F1F"/>
          </a:solidFill>
          <a:ln w="3810">
            <a:solidFill>
              <a:srgbClr val="2A2A2A"/>
            </a:solidFill>
            <a:prstDash val="solid"/>
          </a:ln>
        </p:spPr>
      </p:sp>
      <p:sp>
        <p:nvSpPr>
          <p:cNvPr id="23" name="Shape 21"/>
          <p:cNvSpPr/>
          <p:nvPr/>
        </p:nvSpPr>
        <p:spPr>
          <a:xfrm>
            <a:off x="320040" y="3090672"/>
            <a:ext cx="27432" cy="621792"/>
          </a:xfrm>
          <a:prstGeom prst="rect">
            <a:avLst/>
          </a:prstGeom>
          <a:solidFill>
            <a:srgbClr val="06B6D4"/>
          </a:solidFill>
          <a:ln w="12700">
            <a:solidFill>
              <a:srgbClr val="06B6D4"/>
            </a:solidFill>
            <a:prstDash val="solid"/>
          </a:ln>
        </p:spPr>
      </p:sp>
      <p:sp>
        <p:nvSpPr>
          <p:cNvPr id="24" name="Text 22"/>
          <p:cNvSpPr/>
          <p:nvPr/>
        </p:nvSpPr>
        <p:spPr>
          <a:xfrm>
            <a:off x="457200" y="3054096"/>
            <a:ext cx="4023360" cy="237744"/>
          </a:xfrm>
          <a:prstGeom prst="rect">
            <a:avLst/>
          </a:prstGeom>
          <a:noFill/>
          <a:ln/>
        </p:spPr>
        <p:txBody>
          <a:bodyPr wrap="square" rtlCol="0" anchor="ctr"/>
          <a:lstStyle/>
          <a:p>
            <a:pPr indent="0" marL="0">
              <a:buNone/>
            </a:pPr>
            <a:r>
              <a:rPr lang="en-US" sz="950" b="1" dirty="0">
                <a:solidFill>
                  <a:srgbClr val="06B6D4"/>
                </a:solidFill>
                <a:latin typeface="Calibri" pitchFamily="34" charset="0"/>
                <a:ea typeface="Calibri" pitchFamily="34" charset="-122"/>
                <a:cs typeface="Calibri" pitchFamily="34" charset="-120"/>
              </a:rPr>
              <a:t>Dispositivos de Nuvem</a:t>
            </a:r>
            <a:endParaRPr lang="en-US" sz="950" dirty="0"/>
          </a:p>
        </p:txBody>
      </p:sp>
      <p:sp>
        <p:nvSpPr>
          <p:cNvPr id="25" name="Text 23"/>
          <p:cNvSpPr/>
          <p:nvPr/>
        </p:nvSpPr>
        <p:spPr>
          <a:xfrm>
            <a:off x="457200" y="33101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Estação de gerenciamento extremamente segura. Least Privilege nas apps. EDR + backups em provedor diferente.</a:t>
            </a:r>
            <a:endParaRPr lang="en-US" sz="900" dirty="0"/>
          </a:p>
        </p:txBody>
      </p:sp>
      <p:sp>
        <p:nvSpPr>
          <p:cNvPr id="26" name="Shape 24"/>
          <p:cNvSpPr/>
          <p:nvPr/>
        </p:nvSpPr>
        <p:spPr>
          <a:xfrm>
            <a:off x="4754880" y="2999232"/>
            <a:ext cx="4251960" cy="804672"/>
          </a:xfrm>
          <a:prstGeom prst="rect">
            <a:avLst/>
          </a:prstGeom>
          <a:solidFill>
            <a:srgbClr val="1F1F1F"/>
          </a:solidFill>
          <a:ln w="3810">
            <a:solidFill>
              <a:srgbClr val="2A2A2A"/>
            </a:solidFill>
            <a:prstDash val="solid"/>
          </a:ln>
        </p:spPr>
      </p:sp>
      <p:sp>
        <p:nvSpPr>
          <p:cNvPr id="27" name="Shape 25"/>
          <p:cNvSpPr/>
          <p:nvPr/>
        </p:nvSpPr>
        <p:spPr>
          <a:xfrm>
            <a:off x="4754880" y="3090672"/>
            <a:ext cx="27432" cy="621792"/>
          </a:xfrm>
          <a:prstGeom prst="rect">
            <a:avLst/>
          </a:prstGeom>
          <a:solidFill>
            <a:srgbClr val="EF4444"/>
          </a:solidFill>
          <a:ln w="12700">
            <a:solidFill>
              <a:srgbClr val="EF4444"/>
            </a:solidFill>
            <a:prstDash val="solid"/>
          </a:ln>
        </p:spPr>
      </p:sp>
      <p:sp>
        <p:nvSpPr>
          <p:cNvPr id="28" name="Text 26"/>
          <p:cNvSpPr/>
          <p:nvPr/>
        </p:nvSpPr>
        <p:spPr>
          <a:xfrm>
            <a:off x="4892040" y="3054096"/>
            <a:ext cx="4023360" cy="237744"/>
          </a:xfrm>
          <a:prstGeom prst="rect">
            <a:avLst/>
          </a:prstGeom>
          <a:noFill/>
          <a:ln/>
        </p:spPr>
        <p:txBody>
          <a:bodyPr wrap="square"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SCADA / ICS</a:t>
            </a:r>
            <a:endParaRPr lang="en-US" sz="950" dirty="0"/>
          </a:p>
        </p:txBody>
      </p:sp>
      <p:sp>
        <p:nvSpPr>
          <p:cNvPr id="29" name="Text 27"/>
          <p:cNvSpPr/>
          <p:nvPr/>
        </p:nvSpPr>
        <p:spPr>
          <a:xfrm>
            <a:off x="4892040" y="33101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Redes isoladas com air gap. Segurança física rigorosa. Controla infraestrutura crítica — ataque pode causar dano físico real.</a:t>
            </a:r>
            <a:endParaRPr lang="en-US" sz="900" dirty="0"/>
          </a:p>
        </p:txBody>
      </p:sp>
      <p:sp>
        <p:nvSpPr>
          <p:cNvPr id="30" name="Shape 28"/>
          <p:cNvSpPr/>
          <p:nvPr/>
        </p:nvSpPr>
        <p:spPr>
          <a:xfrm>
            <a:off x="320040" y="3913632"/>
            <a:ext cx="4251960" cy="804672"/>
          </a:xfrm>
          <a:prstGeom prst="rect">
            <a:avLst/>
          </a:prstGeom>
          <a:solidFill>
            <a:srgbClr val="1F1F1F"/>
          </a:solidFill>
          <a:ln w="3810">
            <a:solidFill>
              <a:srgbClr val="2A2A2A"/>
            </a:solidFill>
            <a:prstDash val="solid"/>
          </a:ln>
        </p:spPr>
      </p:sp>
      <p:sp>
        <p:nvSpPr>
          <p:cNvPr id="31" name="Shape 29"/>
          <p:cNvSpPr/>
          <p:nvPr/>
        </p:nvSpPr>
        <p:spPr>
          <a:xfrm>
            <a:off x="320040" y="4005072"/>
            <a:ext cx="27432" cy="621792"/>
          </a:xfrm>
          <a:prstGeom prst="rect">
            <a:avLst/>
          </a:prstGeom>
          <a:solidFill>
            <a:srgbClr val="F59E0B"/>
          </a:solidFill>
          <a:ln w="12700">
            <a:solidFill>
              <a:srgbClr val="F59E0B"/>
            </a:solidFill>
            <a:prstDash val="solid"/>
          </a:ln>
        </p:spPr>
      </p:sp>
      <p:sp>
        <p:nvSpPr>
          <p:cNvPr id="32" name="Text 30"/>
          <p:cNvSpPr/>
          <p:nvPr/>
        </p:nvSpPr>
        <p:spPr>
          <a:xfrm>
            <a:off x="457200" y="3968496"/>
            <a:ext cx="4023360" cy="237744"/>
          </a:xfrm>
          <a:prstGeom prst="rect">
            <a:avLst/>
          </a:prstGeom>
          <a:noFill/>
          <a:ln/>
        </p:spPr>
        <p:txBody>
          <a:bodyPr wrap="square"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IoT e Embarcados</a:t>
            </a:r>
            <a:endParaRPr lang="en-US" sz="950" dirty="0"/>
          </a:p>
        </p:txBody>
      </p:sp>
      <p:sp>
        <p:nvSpPr>
          <p:cNvPr id="33" name="Text 31"/>
          <p:cNvSpPr/>
          <p:nvPr/>
        </p:nvSpPr>
        <p:spPr>
          <a:xfrm>
            <a:off x="457200" y="42245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SO limitado — difícil aplicar patches. Colocar em rede segmentada separada. RTOS deve ser isolado.</a:t>
            </a:r>
            <a:endParaRPr lang="en-US" sz="900" dirty="0"/>
          </a:p>
        </p:txBody>
      </p:sp>
      <p:sp>
        <p:nvSpPr>
          <p:cNvPr id="34" name="Shape 32"/>
          <p:cNvSpPr/>
          <p:nvPr/>
        </p:nvSpPr>
        <p:spPr>
          <a:xfrm>
            <a:off x="4754880" y="3913632"/>
            <a:ext cx="4251960" cy="804672"/>
          </a:xfrm>
          <a:prstGeom prst="rect">
            <a:avLst/>
          </a:prstGeom>
          <a:solidFill>
            <a:srgbClr val="1F1F1F"/>
          </a:solidFill>
          <a:ln w="3810">
            <a:solidFill>
              <a:srgbClr val="2A2A2A"/>
            </a:solidFill>
            <a:prstDash val="solid"/>
          </a:ln>
        </p:spPr>
      </p:sp>
      <p:sp>
        <p:nvSpPr>
          <p:cNvPr id="35" name="Shape 33"/>
          <p:cNvSpPr/>
          <p:nvPr/>
        </p:nvSpPr>
        <p:spPr>
          <a:xfrm>
            <a:off x="4754880" y="4005072"/>
            <a:ext cx="27432" cy="621792"/>
          </a:xfrm>
          <a:prstGeom prst="rect">
            <a:avLst/>
          </a:prstGeom>
          <a:solidFill>
            <a:srgbClr val="22C55E"/>
          </a:solidFill>
          <a:ln w="12700">
            <a:solidFill>
              <a:srgbClr val="22C55E"/>
            </a:solidFill>
            <a:prstDash val="solid"/>
          </a:ln>
        </p:spPr>
      </p:sp>
      <p:sp>
        <p:nvSpPr>
          <p:cNvPr id="36" name="Text 34"/>
          <p:cNvSpPr/>
          <p:nvPr/>
        </p:nvSpPr>
        <p:spPr>
          <a:xfrm>
            <a:off x="4892040" y="3968496"/>
            <a:ext cx="4023360" cy="237744"/>
          </a:xfrm>
          <a:prstGeom prst="rect">
            <a:avLst/>
          </a:prstGeom>
          <a:noFill/>
          <a:ln/>
        </p:spPr>
        <p:txBody>
          <a:bodyPr wrap="square" rtlCol="0" anchor="ctr"/>
          <a:lstStyle/>
          <a:p>
            <a:pPr indent="0" marL="0">
              <a:buNone/>
            </a:pPr>
            <a:r>
              <a:rPr lang="en-US" sz="950" b="1" dirty="0">
                <a:solidFill>
                  <a:srgbClr val="22C55E"/>
                </a:solidFill>
                <a:latin typeface="Calibri" pitchFamily="34" charset="0"/>
                <a:ea typeface="Calibri" pitchFamily="34" charset="-122"/>
                <a:cs typeface="Calibri" pitchFamily="34" charset="-120"/>
              </a:rPr>
              <a:t>Cloud Apps</a:t>
            </a:r>
            <a:endParaRPr lang="en-US" sz="950" dirty="0"/>
          </a:p>
        </p:txBody>
      </p:sp>
      <p:sp>
        <p:nvSpPr>
          <p:cNvPr id="37" name="Text 35"/>
          <p:cNvSpPr/>
          <p:nvPr/>
        </p:nvSpPr>
        <p:spPr>
          <a:xfrm>
            <a:off x="4892040" y="4224528"/>
            <a:ext cx="402336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Least privilege por aplicação. Monitoramento contínuo. Backups regulares. Validar configurações de segurança.</a:t>
            </a:r>
            <a:endParaRPr lang="en-US" sz="900" dirty="0"/>
          </a:p>
        </p:txBody>
      </p:sp>
      <p:sp>
        <p:nvSpPr>
          <p:cNvPr id="38" name="Shape 36"/>
          <p:cNvSpPr/>
          <p:nvPr/>
        </p:nvSpPr>
        <p:spPr>
          <a:xfrm>
            <a:off x="0" y="4846320"/>
            <a:ext cx="9144000" cy="297180"/>
          </a:xfrm>
          <a:prstGeom prst="rect">
            <a:avLst/>
          </a:prstGeom>
          <a:solidFill>
            <a:srgbClr val="1F1F1F"/>
          </a:solidFill>
          <a:ln w="12700">
            <a:solidFill>
              <a:srgbClr val="1F1F1F"/>
            </a:solidFill>
            <a:prstDash val="solid"/>
          </a:ln>
        </p:spPr>
      </p:sp>
      <p:sp>
        <p:nvSpPr>
          <p:cNvPr id="39" name="Text 37"/>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Security+ SY0-701  ·  Domínio 4  ·  Security Operations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8B5CF6"/>
          </a:solidFill>
          <a:ln w="12700">
            <a:solidFill>
              <a:srgbClr val="8B5CF6"/>
            </a:solidFill>
            <a:prstDash val="solid"/>
          </a:ln>
        </p:spPr>
      </p:sp>
      <p:sp>
        <p:nvSpPr>
          <p:cNvPr id="3" name="Text 1"/>
          <p:cNvSpPr/>
          <p:nvPr/>
        </p:nvSpPr>
        <p:spPr>
          <a:xfrm>
            <a:off x="320040" y="256032"/>
            <a:ext cx="8229600" cy="475488"/>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MDM e Estratégias de Dispositivos Móveis</a:t>
            </a:r>
            <a:endParaRPr lang="en-US" sz="2200" dirty="0"/>
          </a:p>
        </p:txBody>
      </p:sp>
      <p:sp>
        <p:nvSpPr>
          <p:cNvPr id="4" name="Text 2"/>
          <p:cNvSpPr/>
          <p:nvPr/>
        </p:nvSpPr>
        <p:spPr>
          <a:xfrm>
            <a:off x="320040" y="749808"/>
            <a:ext cx="8229600" cy="256032"/>
          </a:xfrm>
          <a:prstGeom prst="rect">
            <a:avLst/>
          </a:prstGeom>
          <a:noFill/>
          <a:ln/>
        </p:spPr>
        <p:txBody>
          <a:bodyPr wrap="square" rtlCol="0" anchor="ctr"/>
          <a:lstStyle/>
          <a:p>
            <a:pPr indent="0" marL="0">
              <a:buNone/>
            </a:pPr>
            <a:r>
              <a:rPr lang="en-US" sz="850" b="1" spc="100" kern="0" dirty="0">
                <a:solidFill>
                  <a:srgbClr val="8B5CF6"/>
                </a:solidFill>
                <a:latin typeface="Calibri" pitchFamily="34" charset="0"/>
                <a:ea typeface="Calibri" pitchFamily="34" charset="-122"/>
                <a:cs typeface="Calibri" pitchFamily="34" charset="-120"/>
              </a:rPr>
              <a:t>MDM  ·  BYOD  ·  COPE  ·  CYOD  ·  SITE SURVEY  ·  HEAT MAP  ·  RISCOS MÓVEIS</a:t>
            </a:r>
            <a:endParaRPr lang="en-US" sz="850" dirty="0"/>
          </a:p>
        </p:txBody>
      </p:sp>
      <p:sp>
        <p:nvSpPr>
          <p:cNvPr id="5" name="Shape 3"/>
          <p:cNvSpPr/>
          <p:nvPr/>
        </p:nvSpPr>
        <p:spPr>
          <a:xfrm>
            <a:off x="320040" y="1051560"/>
            <a:ext cx="8503920" cy="13716"/>
          </a:xfrm>
          <a:prstGeom prst="rect">
            <a:avLst/>
          </a:prstGeom>
          <a:solidFill>
            <a:srgbClr val="2A2A2A"/>
          </a:solidFill>
          <a:ln w="12700">
            <a:solidFill>
              <a:srgbClr val="2A2A2A"/>
            </a:solidFill>
            <a:prstDash val="solid"/>
          </a:ln>
        </p:spPr>
      </p:sp>
      <p:sp>
        <p:nvSpPr>
          <p:cNvPr id="6" name="Shape 4"/>
          <p:cNvSpPr/>
          <p:nvPr/>
        </p:nvSpPr>
        <p:spPr>
          <a:xfrm>
            <a:off x="320040" y="1170432"/>
            <a:ext cx="4114800" cy="2212848"/>
          </a:xfrm>
          <a:prstGeom prst="rect">
            <a:avLst/>
          </a:prstGeom>
          <a:solidFill>
            <a:srgbClr val="1F1F1F"/>
          </a:solidFill>
          <a:ln w="6350">
            <a:solidFill>
              <a:srgbClr val="2A2A2A"/>
            </a:solidFill>
            <a:prstDash val="solid"/>
          </a:ln>
        </p:spPr>
      </p:sp>
      <p:sp>
        <p:nvSpPr>
          <p:cNvPr id="7" name="Shape 5"/>
          <p:cNvSpPr/>
          <p:nvPr/>
        </p:nvSpPr>
        <p:spPr>
          <a:xfrm>
            <a:off x="320040" y="1170432"/>
            <a:ext cx="36576" cy="2212848"/>
          </a:xfrm>
          <a:prstGeom prst="rect">
            <a:avLst/>
          </a:prstGeom>
          <a:solidFill>
            <a:srgbClr val="8B5CF6"/>
          </a:solidFill>
          <a:ln w="12700">
            <a:solidFill>
              <a:srgbClr val="8B5CF6"/>
            </a:solidFill>
            <a:prstDash val="solid"/>
          </a:ln>
        </p:spPr>
      </p:sp>
      <p:sp>
        <p:nvSpPr>
          <p:cNvPr id="8" name="Text 6"/>
          <p:cNvSpPr/>
          <p:nvPr/>
        </p:nvSpPr>
        <p:spPr>
          <a:xfrm>
            <a:off x="457200" y="1261872"/>
            <a:ext cx="3913632" cy="228600"/>
          </a:xfrm>
          <a:prstGeom prst="rect">
            <a:avLst/>
          </a:prstGeom>
          <a:noFill/>
          <a:ln/>
        </p:spPr>
        <p:txBody>
          <a:bodyPr wrap="square" rtlCol="0" anchor="ctr"/>
          <a:lstStyle/>
          <a:p>
            <a:pPr indent="0" marL="0">
              <a:buNone/>
            </a:pPr>
            <a:r>
              <a:rPr lang="en-US" sz="800" b="1" spc="80" kern="0" dirty="0">
                <a:solidFill>
                  <a:srgbClr val="8B5CF6"/>
                </a:solidFill>
                <a:latin typeface="Calibri" pitchFamily="34" charset="0"/>
                <a:ea typeface="Calibri" pitchFamily="34" charset="-122"/>
                <a:cs typeface="Calibri" pitchFamily="34" charset="-120"/>
              </a:rPr>
              <a:t>MDM E ESTRATÉGIAS DE DISPOSITIVOS</a:t>
            </a:r>
            <a:endParaRPr lang="en-US" sz="800" dirty="0"/>
          </a:p>
        </p:txBody>
      </p:sp>
      <p:sp>
        <p:nvSpPr>
          <p:cNvPr id="9" name="Shape 7"/>
          <p:cNvSpPr/>
          <p:nvPr/>
        </p:nvSpPr>
        <p:spPr>
          <a:xfrm>
            <a:off x="457200" y="1517904"/>
            <a:ext cx="3886200" cy="13716"/>
          </a:xfrm>
          <a:prstGeom prst="rect">
            <a:avLst/>
          </a:prstGeom>
          <a:solidFill>
            <a:srgbClr val="2A2A2A"/>
          </a:solidFill>
          <a:ln w="12700">
            <a:solidFill>
              <a:srgbClr val="2A2A2A"/>
            </a:solidFill>
            <a:prstDash val="solid"/>
          </a:ln>
        </p:spPr>
      </p:sp>
      <p:sp>
        <p:nvSpPr>
          <p:cNvPr id="10" name="Text 8"/>
          <p:cNvSpPr/>
          <p:nvPr/>
        </p:nvSpPr>
        <p:spPr>
          <a:xfrm>
            <a:off x="457200" y="1591056"/>
            <a:ext cx="3886200" cy="1700784"/>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MDM (Mobile Device Management): gerencia dispositivos em massa</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Aplica policies: bloqueio de tela, PIN, desabilitar câmera em áreas restritas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Segrega dados corporativos de dados pessoais no mesmo dispositivo</a:t>
            </a:r>
            <a:endParaRPr lang="en-US" sz="1050" dirty="0"/>
          </a:p>
          <a:p>
            <a:pPr marL="342900" indent="-342900">
              <a:buSzPct val="100000"/>
              <a:buChar char="•"/>
            </a:pPr>
            <a:r>
              <a:rPr lang="en-US" sz="1050" b="1" dirty="0">
                <a:solidFill>
                  <a:srgbClr val="F59E0B"/>
                </a:solidFill>
                <a:latin typeface="Calibri" pitchFamily="34" charset="0"/>
                <a:ea typeface="Calibri" pitchFamily="34" charset="-122"/>
                <a:cs typeface="Calibri" pitchFamily="34" charset="-120"/>
              </a:rPr>
              <a:t>BYOD: funcionário usa dispositivo pessoal — MDM obrigatório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COPE: empresa compra, funcionário usa pessoalmente — mais controle</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CYOD: empresa compra, funcionário escolhe o modelo</a:t>
            </a:r>
            <a:endParaRPr lang="en-US" sz="1050" dirty="0"/>
          </a:p>
        </p:txBody>
      </p:sp>
      <p:sp>
        <p:nvSpPr>
          <p:cNvPr id="11" name="Shape 9"/>
          <p:cNvSpPr/>
          <p:nvPr/>
        </p:nvSpPr>
        <p:spPr>
          <a:xfrm>
            <a:off x="4663440" y="1170432"/>
            <a:ext cx="4160520" cy="2212848"/>
          </a:xfrm>
          <a:prstGeom prst="rect">
            <a:avLst/>
          </a:prstGeom>
          <a:solidFill>
            <a:srgbClr val="1F1F1F"/>
          </a:solidFill>
          <a:ln w="6350">
            <a:solidFill>
              <a:srgbClr val="2A2A2A"/>
            </a:solidFill>
            <a:prstDash val="solid"/>
          </a:ln>
        </p:spPr>
      </p:sp>
      <p:sp>
        <p:nvSpPr>
          <p:cNvPr id="12" name="Shape 10"/>
          <p:cNvSpPr/>
          <p:nvPr/>
        </p:nvSpPr>
        <p:spPr>
          <a:xfrm>
            <a:off x="4663440" y="1170432"/>
            <a:ext cx="36576" cy="2212848"/>
          </a:xfrm>
          <a:prstGeom prst="rect">
            <a:avLst/>
          </a:prstGeom>
          <a:solidFill>
            <a:srgbClr val="06B6D4"/>
          </a:solidFill>
          <a:ln w="12700">
            <a:solidFill>
              <a:srgbClr val="06B6D4"/>
            </a:solidFill>
            <a:prstDash val="solid"/>
          </a:ln>
        </p:spPr>
      </p:sp>
      <p:sp>
        <p:nvSpPr>
          <p:cNvPr id="13" name="Text 11"/>
          <p:cNvSpPr/>
          <p:nvPr/>
        </p:nvSpPr>
        <p:spPr>
          <a:xfrm>
            <a:off x="4800600" y="1261872"/>
            <a:ext cx="3959352" cy="228600"/>
          </a:xfrm>
          <a:prstGeom prst="rect">
            <a:avLst/>
          </a:prstGeom>
          <a:noFill/>
          <a:ln/>
        </p:spPr>
        <p:txBody>
          <a:bodyPr wrap="square" rtlCol="0" anchor="ctr"/>
          <a:lstStyle/>
          <a:p>
            <a:pPr indent="0" marL="0">
              <a:buNone/>
            </a:pPr>
            <a:r>
              <a:rPr lang="en-US" sz="800" b="1" spc="80" kern="0" dirty="0">
                <a:solidFill>
                  <a:srgbClr val="06B6D4"/>
                </a:solidFill>
                <a:latin typeface="Calibri" pitchFamily="34" charset="0"/>
                <a:ea typeface="Calibri" pitchFamily="34" charset="-122"/>
                <a:cs typeface="Calibri" pitchFamily="34" charset="-120"/>
              </a:rPr>
              <a:t>SITE SURVEY E WIRELESS</a:t>
            </a:r>
            <a:endParaRPr lang="en-US" sz="800" dirty="0"/>
          </a:p>
        </p:txBody>
      </p:sp>
      <p:sp>
        <p:nvSpPr>
          <p:cNvPr id="14" name="Shape 12"/>
          <p:cNvSpPr/>
          <p:nvPr/>
        </p:nvSpPr>
        <p:spPr>
          <a:xfrm>
            <a:off x="4800600" y="1517904"/>
            <a:ext cx="3931920" cy="13716"/>
          </a:xfrm>
          <a:prstGeom prst="rect">
            <a:avLst/>
          </a:prstGeom>
          <a:solidFill>
            <a:srgbClr val="2A2A2A"/>
          </a:solidFill>
          <a:ln w="12700">
            <a:solidFill>
              <a:srgbClr val="2A2A2A"/>
            </a:solidFill>
            <a:prstDash val="solid"/>
          </a:ln>
        </p:spPr>
      </p:sp>
      <p:sp>
        <p:nvSpPr>
          <p:cNvPr id="15" name="Text 13"/>
          <p:cNvSpPr/>
          <p:nvPr/>
        </p:nvSpPr>
        <p:spPr>
          <a:xfrm>
            <a:off x="4800600" y="1591056"/>
            <a:ext cx="3931920" cy="1700784"/>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Site Survey: mapeamento de APs existentes (próprios e de terceiros)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Analisa frequências e canais para evitar interferência</a:t>
            </a:r>
            <a:endParaRPr lang="en-US" sz="1050" dirty="0"/>
          </a:p>
          <a:p>
            <a:pPr marL="342900" indent="-342900">
              <a:buSzPct val="100000"/>
              <a:buChar char="•"/>
            </a:pPr>
            <a:r>
              <a:rPr lang="en-US" sz="1050" b="1" dirty="0">
                <a:solidFill>
                  <a:srgbClr val="06B6D4"/>
                </a:solidFill>
                <a:latin typeface="Calibri" pitchFamily="34" charset="0"/>
                <a:ea typeface="Calibri" pitchFamily="34" charset="-122"/>
                <a:cs typeface="Calibri" pitchFamily="34" charset="-120"/>
              </a:rPr>
              <a:t>Heat Map: visualização gráfica da força do sinal</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Vermelho/Amarelo = sinal forte  ·  Azul = sinal fraco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Ferramentas: NetSpot, analisadores de espectro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Identifica SSIDs e interferências externas</a:t>
            </a:r>
            <a:endParaRPr lang="en-US" sz="1050" dirty="0"/>
          </a:p>
        </p:txBody>
      </p:sp>
      <p:sp>
        <p:nvSpPr>
          <p:cNvPr id="16" name="Text 14"/>
          <p:cNvSpPr/>
          <p:nvPr/>
        </p:nvSpPr>
        <p:spPr>
          <a:xfrm>
            <a:off x="320040" y="3511296"/>
            <a:ext cx="8503920" cy="256032"/>
          </a:xfrm>
          <a:prstGeom prst="rect">
            <a:avLst/>
          </a:prstGeom>
          <a:noFill/>
          <a:ln/>
        </p:spPr>
        <p:txBody>
          <a:bodyPr wrap="square" rtlCol="0" anchor="ctr"/>
          <a:lstStyle/>
          <a:p>
            <a:pPr indent="0" marL="0">
              <a:buNone/>
            </a:pPr>
            <a:r>
              <a:rPr lang="en-US" sz="800" b="1" spc="80" kern="0" dirty="0">
                <a:solidFill>
                  <a:srgbClr val="EF4444"/>
                </a:solidFill>
                <a:latin typeface="Calibri" pitchFamily="34" charset="0"/>
                <a:ea typeface="Calibri" pitchFamily="34" charset="-122"/>
                <a:cs typeface="Calibri" pitchFamily="34" charset="-120"/>
              </a:rPr>
              <a:t>RISCOS DE SEGURANÇA MÓVEL</a:t>
            </a:r>
            <a:endParaRPr lang="en-US" sz="800" dirty="0"/>
          </a:p>
        </p:txBody>
      </p:sp>
      <p:sp>
        <p:nvSpPr>
          <p:cNvPr id="17" name="Shape 15"/>
          <p:cNvSpPr/>
          <p:nvPr/>
        </p:nvSpPr>
        <p:spPr>
          <a:xfrm>
            <a:off x="320040" y="3822192"/>
            <a:ext cx="2761488" cy="841248"/>
          </a:xfrm>
          <a:prstGeom prst="rect">
            <a:avLst/>
          </a:prstGeom>
          <a:solidFill>
            <a:srgbClr val="1F1F1F"/>
          </a:solidFill>
          <a:ln w="3810">
            <a:solidFill>
              <a:srgbClr val="2A2A2A"/>
            </a:solidFill>
            <a:prstDash val="solid"/>
          </a:ln>
        </p:spPr>
      </p:sp>
      <p:sp>
        <p:nvSpPr>
          <p:cNvPr id="18" name="Shape 16"/>
          <p:cNvSpPr/>
          <p:nvPr/>
        </p:nvSpPr>
        <p:spPr>
          <a:xfrm>
            <a:off x="320040" y="3822192"/>
            <a:ext cx="27432" cy="841248"/>
          </a:xfrm>
          <a:prstGeom prst="rect">
            <a:avLst/>
          </a:prstGeom>
          <a:solidFill>
            <a:srgbClr val="EF4444"/>
          </a:solidFill>
          <a:ln w="12700">
            <a:solidFill>
              <a:srgbClr val="EF4444"/>
            </a:solidFill>
            <a:prstDash val="solid"/>
          </a:ln>
        </p:spPr>
      </p:sp>
      <p:sp>
        <p:nvSpPr>
          <p:cNvPr id="19" name="Text 17"/>
          <p:cNvSpPr/>
          <p:nvPr/>
        </p:nvSpPr>
        <p:spPr>
          <a:xfrm>
            <a:off x="457200" y="3877056"/>
            <a:ext cx="2542032" cy="228600"/>
          </a:xfrm>
          <a:prstGeom prst="rect">
            <a:avLst/>
          </a:prstGeom>
          <a:noFill/>
          <a:ln/>
        </p:spPr>
        <p:txBody>
          <a:bodyPr wrap="square"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Monitoramento/Rastreamento</a:t>
            </a:r>
            <a:endParaRPr lang="en-US" sz="850" dirty="0"/>
          </a:p>
        </p:txBody>
      </p:sp>
      <p:sp>
        <p:nvSpPr>
          <p:cNvPr id="20" name="Text 18"/>
          <p:cNvSpPr/>
          <p:nvPr/>
        </p:nvSpPr>
        <p:spPr>
          <a:xfrm>
            <a:off x="457200" y="4133088"/>
            <a:ext cx="2542032"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Tráfego 4G/5G pode ser interceptado — localização rastreada</a:t>
            </a:r>
            <a:endParaRPr lang="en-US" sz="900" dirty="0"/>
          </a:p>
        </p:txBody>
      </p:sp>
      <p:sp>
        <p:nvSpPr>
          <p:cNvPr id="21" name="Shape 19"/>
          <p:cNvSpPr/>
          <p:nvPr/>
        </p:nvSpPr>
        <p:spPr>
          <a:xfrm>
            <a:off x="3227832" y="3822192"/>
            <a:ext cx="2761488" cy="841248"/>
          </a:xfrm>
          <a:prstGeom prst="rect">
            <a:avLst/>
          </a:prstGeom>
          <a:solidFill>
            <a:srgbClr val="1F1F1F"/>
          </a:solidFill>
          <a:ln w="3810">
            <a:solidFill>
              <a:srgbClr val="2A2A2A"/>
            </a:solidFill>
            <a:prstDash val="solid"/>
          </a:ln>
        </p:spPr>
      </p:sp>
      <p:sp>
        <p:nvSpPr>
          <p:cNvPr id="22" name="Shape 20"/>
          <p:cNvSpPr/>
          <p:nvPr/>
        </p:nvSpPr>
        <p:spPr>
          <a:xfrm>
            <a:off x="3227832" y="3822192"/>
            <a:ext cx="27432" cy="841248"/>
          </a:xfrm>
          <a:prstGeom prst="rect">
            <a:avLst/>
          </a:prstGeom>
          <a:solidFill>
            <a:srgbClr val="EF4444"/>
          </a:solidFill>
          <a:ln w="12700">
            <a:solidFill>
              <a:srgbClr val="EF4444"/>
            </a:solidFill>
            <a:prstDash val="solid"/>
          </a:ln>
        </p:spPr>
      </p:sp>
      <p:sp>
        <p:nvSpPr>
          <p:cNvPr id="23" name="Text 21"/>
          <p:cNvSpPr/>
          <p:nvPr/>
        </p:nvSpPr>
        <p:spPr>
          <a:xfrm>
            <a:off x="3364992" y="3877056"/>
            <a:ext cx="2542032" cy="228600"/>
          </a:xfrm>
          <a:prstGeom prst="rect">
            <a:avLst/>
          </a:prstGeom>
          <a:noFill/>
          <a:ln/>
        </p:spPr>
        <p:txBody>
          <a:bodyPr wrap="square"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Wi-Fi Público</a:t>
            </a:r>
            <a:endParaRPr lang="en-US" sz="850" dirty="0"/>
          </a:p>
        </p:txBody>
      </p:sp>
      <p:sp>
        <p:nvSpPr>
          <p:cNvPr id="24" name="Text 22"/>
          <p:cNvSpPr/>
          <p:nvPr/>
        </p:nvSpPr>
        <p:spPr>
          <a:xfrm>
            <a:off x="3364992" y="4133088"/>
            <a:ext cx="2542032"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Ataque on-path (MitM) em redes abertas — usar VPN obrigatório</a:t>
            </a:r>
            <a:endParaRPr lang="en-US" sz="900" dirty="0"/>
          </a:p>
        </p:txBody>
      </p:sp>
      <p:sp>
        <p:nvSpPr>
          <p:cNvPr id="25" name="Shape 23"/>
          <p:cNvSpPr/>
          <p:nvPr/>
        </p:nvSpPr>
        <p:spPr>
          <a:xfrm>
            <a:off x="6135624" y="3822192"/>
            <a:ext cx="2761488" cy="841248"/>
          </a:xfrm>
          <a:prstGeom prst="rect">
            <a:avLst/>
          </a:prstGeom>
          <a:solidFill>
            <a:srgbClr val="1F1F1F"/>
          </a:solidFill>
          <a:ln w="3810">
            <a:solidFill>
              <a:srgbClr val="2A2A2A"/>
            </a:solidFill>
            <a:prstDash val="solid"/>
          </a:ln>
        </p:spPr>
      </p:sp>
      <p:sp>
        <p:nvSpPr>
          <p:cNvPr id="26" name="Shape 24"/>
          <p:cNvSpPr/>
          <p:nvPr/>
        </p:nvSpPr>
        <p:spPr>
          <a:xfrm>
            <a:off x="6135624" y="3822192"/>
            <a:ext cx="27432" cy="841248"/>
          </a:xfrm>
          <a:prstGeom prst="rect">
            <a:avLst/>
          </a:prstGeom>
          <a:solidFill>
            <a:srgbClr val="EF4444"/>
          </a:solidFill>
          <a:ln w="12700">
            <a:solidFill>
              <a:srgbClr val="EF4444"/>
            </a:solidFill>
            <a:prstDash val="solid"/>
          </a:ln>
        </p:spPr>
      </p:sp>
      <p:sp>
        <p:nvSpPr>
          <p:cNvPr id="27" name="Text 25"/>
          <p:cNvSpPr/>
          <p:nvPr/>
        </p:nvSpPr>
        <p:spPr>
          <a:xfrm>
            <a:off x="6272784" y="3877056"/>
            <a:ext cx="2542032" cy="228600"/>
          </a:xfrm>
          <a:prstGeom prst="rect">
            <a:avLst/>
          </a:prstGeom>
          <a:noFill/>
          <a:ln/>
        </p:spPr>
        <p:txBody>
          <a:bodyPr wrap="square"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Bluetooth (PAN)</a:t>
            </a:r>
            <a:endParaRPr lang="en-US" sz="850" dirty="0"/>
          </a:p>
        </p:txBody>
      </p:sp>
      <p:sp>
        <p:nvSpPr>
          <p:cNvPr id="28" name="Text 26"/>
          <p:cNvSpPr/>
          <p:nvPr/>
        </p:nvSpPr>
        <p:spPr>
          <a:xfrm>
            <a:off x="6272784" y="4133088"/>
            <a:ext cx="2542032"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Emparelhamento formal necessário — evitar Bluejacking/Bluesnarfing</a:t>
            </a:r>
            <a:endParaRPr lang="en-US" sz="900" dirty="0"/>
          </a:p>
        </p:txBody>
      </p:sp>
      <p:sp>
        <p:nvSpPr>
          <p:cNvPr id="29" name="Shape 27"/>
          <p:cNvSpPr/>
          <p:nvPr/>
        </p:nvSpPr>
        <p:spPr>
          <a:xfrm>
            <a:off x="0" y="4846320"/>
            <a:ext cx="9144000" cy="297180"/>
          </a:xfrm>
          <a:prstGeom prst="rect">
            <a:avLst/>
          </a:prstGeom>
          <a:solidFill>
            <a:srgbClr val="1F1F1F"/>
          </a:solidFill>
          <a:ln w="12700">
            <a:solidFill>
              <a:srgbClr val="1F1F1F"/>
            </a:solidFill>
            <a:prstDash val="solid"/>
          </a:ln>
        </p:spPr>
      </p:sp>
      <p:sp>
        <p:nvSpPr>
          <p:cNvPr id="30" name="Text 28"/>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Security+ SY0-701  ·  Domínio 4  ·  Security Operations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6B6D4"/>
          </a:solidFill>
          <a:ln w="12700">
            <a:solidFill>
              <a:srgbClr val="06B6D4"/>
            </a:solidFill>
            <a:prstDash val="solid"/>
          </a:ln>
        </p:spPr>
      </p:sp>
      <p:sp>
        <p:nvSpPr>
          <p:cNvPr id="3" name="Text 1"/>
          <p:cNvSpPr/>
          <p:nvPr/>
        </p:nvSpPr>
        <p:spPr>
          <a:xfrm>
            <a:off x="320040" y="256032"/>
            <a:ext cx="8229600" cy="475488"/>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Segurança Sem Fio — WPA2, WPA3 e 802.1X</a:t>
            </a:r>
            <a:endParaRPr lang="en-US" sz="2200" dirty="0"/>
          </a:p>
        </p:txBody>
      </p:sp>
      <p:sp>
        <p:nvSpPr>
          <p:cNvPr id="4" name="Text 2"/>
          <p:cNvSpPr/>
          <p:nvPr/>
        </p:nvSpPr>
        <p:spPr>
          <a:xfrm>
            <a:off x="320040" y="749808"/>
            <a:ext cx="8229600" cy="256032"/>
          </a:xfrm>
          <a:prstGeom prst="rect">
            <a:avLst/>
          </a:prstGeom>
          <a:noFill/>
          <a:ln/>
        </p:spPr>
        <p:txBody>
          <a:bodyPr wrap="square" rtlCol="0" anchor="ctr"/>
          <a:lstStyle/>
          <a:p>
            <a:pPr indent="0" marL="0">
              <a:buNone/>
            </a:pPr>
            <a:r>
              <a:rPr lang="en-US" sz="850" b="1" spc="100" kern="0" dirty="0">
                <a:solidFill>
                  <a:srgbClr val="06B6D4"/>
                </a:solidFill>
                <a:latin typeface="Calibri" pitchFamily="34" charset="0"/>
                <a:ea typeface="Calibri" pitchFamily="34" charset="-122"/>
                <a:cs typeface="Calibri" pitchFamily="34" charset="-120"/>
              </a:rPr>
              <a:t>WPA2  ·  WPA3  ·  SAE  ·  GCMP  ·  PSK  ·  ENTERPRISE  ·  802.1X  ·  RADIUS  ·  EAP</a:t>
            </a:r>
            <a:endParaRPr lang="en-US" sz="850" dirty="0"/>
          </a:p>
        </p:txBody>
      </p:sp>
      <p:sp>
        <p:nvSpPr>
          <p:cNvPr id="5" name="Shape 3"/>
          <p:cNvSpPr/>
          <p:nvPr/>
        </p:nvSpPr>
        <p:spPr>
          <a:xfrm>
            <a:off x="320040" y="1051560"/>
            <a:ext cx="8503920" cy="13716"/>
          </a:xfrm>
          <a:prstGeom prst="rect">
            <a:avLst/>
          </a:prstGeom>
          <a:solidFill>
            <a:srgbClr val="2A2A2A"/>
          </a:solidFill>
          <a:ln w="12700">
            <a:solidFill>
              <a:srgbClr val="2A2A2A"/>
            </a:solidFill>
            <a:prstDash val="solid"/>
          </a:ln>
        </p:spPr>
      </p:sp>
      <p:sp>
        <p:nvSpPr>
          <p:cNvPr id="6" name="Shape 4"/>
          <p:cNvSpPr/>
          <p:nvPr/>
        </p:nvSpPr>
        <p:spPr>
          <a:xfrm>
            <a:off x="320040" y="1170432"/>
            <a:ext cx="2724912" cy="3493008"/>
          </a:xfrm>
          <a:prstGeom prst="rect">
            <a:avLst/>
          </a:prstGeom>
          <a:solidFill>
            <a:srgbClr val="1F1F1F"/>
          </a:solidFill>
          <a:ln w="6350">
            <a:solidFill>
              <a:srgbClr val="2A2A2A"/>
            </a:solidFill>
            <a:prstDash val="solid"/>
          </a:ln>
        </p:spPr>
      </p:sp>
      <p:sp>
        <p:nvSpPr>
          <p:cNvPr id="7" name="Shape 5"/>
          <p:cNvSpPr/>
          <p:nvPr/>
        </p:nvSpPr>
        <p:spPr>
          <a:xfrm>
            <a:off x="320040" y="1170432"/>
            <a:ext cx="36576" cy="3493008"/>
          </a:xfrm>
          <a:prstGeom prst="rect">
            <a:avLst/>
          </a:prstGeom>
          <a:solidFill>
            <a:srgbClr val="F59E0B"/>
          </a:solidFill>
          <a:ln w="12700">
            <a:solidFill>
              <a:srgbClr val="F59E0B"/>
            </a:solidFill>
            <a:prstDash val="solid"/>
          </a:ln>
        </p:spPr>
      </p:sp>
      <p:sp>
        <p:nvSpPr>
          <p:cNvPr id="8" name="Text 6"/>
          <p:cNvSpPr/>
          <p:nvPr/>
        </p:nvSpPr>
        <p:spPr>
          <a:xfrm>
            <a:off x="457200" y="1243584"/>
            <a:ext cx="2514600" cy="228600"/>
          </a:xfrm>
          <a:prstGeom prst="rect">
            <a:avLst/>
          </a:prstGeom>
          <a:noFill/>
          <a:ln/>
        </p:spPr>
        <p:txBody>
          <a:bodyPr wrap="square" rtlCol="0" anchor="ctr"/>
          <a:lstStyle/>
          <a:p>
            <a:pPr indent="0" marL="0">
              <a:buNone/>
            </a:pPr>
            <a:r>
              <a:rPr lang="en-US" sz="800" b="1" spc="80" kern="0" dirty="0">
                <a:solidFill>
                  <a:srgbClr val="F59E0B"/>
                </a:solidFill>
                <a:latin typeface="Calibri" pitchFamily="34" charset="0"/>
                <a:ea typeface="Calibri" pitchFamily="34" charset="-122"/>
                <a:cs typeface="Calibri" pitchFamily="34" charset="-120"/>
              </a:rPr>
              <a:t>WPA2</a:t>
            </a:r>
            <a:endParaRPr lang="en-US" sz="800" dirty="0"/>
          </a:p>
        </p:txBody>
      </p:sp>
      <p:sp>
        <p:nvSpPr>
          <p:cNvPr id="9" name="Shape 7"/>
          <p:cNvSpPr/>
          <p:nvPr/>
        </p:nvSpPr>
        <p:spPr>
          <a:xfrm>
            <a:off x="457200" y="1499616"/>
            <a:ext cx="2487168" cy="13716"/>
          </a:xfrm>
          <a:prstGeom prst="rect">
            <a:avLst/>
          </a:prstGeom>
          <a:solidFill>
            <a:srgbClr val="2A2A2A"/>
          </a:solidFill>
          <a:ln w="12700">
            <a:solidFill>
              <a:srgbClr val="2A2A2A"/>
            </a:solidFill>
            <a:prstDash val="solid"/>
          </a:ln>
        </p:spPr>
      </p:sp>
      <p:sp>
        <p:nvSpPr>
          <p:cNvPr id="10" name="Text 8"/>
          <p:cNvSpPr/>
          <p:nvPr/>
        </p:nvSpPr>
        <p:spPr>
          <a:xfrm>
            <a:off x="457200" y="1554480"/>
            <a:ext cx="2487168" cy="3017520"/>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4-way handshake para autenticação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Usa AES para criptografia</a:t>
            </a:r>
            <a:endParaRPr lang="en-US" sz="1050" dirty="0"/>
          </a:p>
          <a:p>
            <a:pPr marL="342900" indent="-342900">
              <a:buSzPct val="100000"/>
              <a:buChar char="•"/>
            </a:pPr>
            <a:r>
              <a:rPr lang="en-US" sz="1050" b="1" dirty="0">
                <a:solidFill>
                  <a:srgbClr val="EF4444"/>
                </a:solidFill>
                <a:latin typeface="Calibri" pitchFamily="34" charset="0"/>
                <a:ea typeface="Calibri" pitchFamily="34" charset="-122"/>
                <a:cs typeface="Calibri" pitchFamily="34" charset="-120"/>
              </a:rPr>
              <a:t>Vulnerabilidade: handshake pode ser capturado e sofrerer brute force offline</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PSK: todos usam a mesma senha — risco de comprometimento em grupo</a:t>
            </a:r>
            <a:endParaRPr lang="en-US" sz="1050" dirty="0"/>
          </a:p>
        </p:txBody>
      </p:sp>
      <p:sp>
        <p:nvSpPr>
          <p:cNvPr id="11" name="Shape 9"/>
          <p:cNvSpPr/>
          <p:nvPr/>
        </p:nvSpPr>
        <p:spPr>
          <a:xfrm>
            <a:off x="3246120" y="1170432"/>
            <a:ext cx="2724912" cy="3493008"/>
          </a:xfrm>
          <a:prstGeom prst="rect">
            <a:avLst/>
          </a:prstGeom>
          <a:solidFill>
            <a:srgbClr val="1F1F1F"/>
          </a:solidFill>
          <a:ln w="6350">
            <a:solidFill>
              <a:srgbClr val="2A2A2A"/>
            </a:solidFill>
            <a:prstDash val="solid"/>
          </a:ln>
        </p:spPr>
      </p:sp>
      <p:sp>
        <p:nvSpPr>
          <p:cNvPr id="12" name="Shape 10"/>
          <p:cNvSpPr/>
          <p:nvPr/>
        </p:nvSpPr>
        <p:spPr>
          <a:xfrm>
            <a:off x="3246120" y="1170432"/>
            <a:ext cx="36576" cy="3493008"/>
          </a:xfrm>
          <a:prstGeom prst="rect">
            <a:avLst/>
          </a:prstGeom>
          <a:solidFill>
            <a:srgbClr val="22C55E"/>
          </a:solidFill>
          <a:ln w="12700">
            <a:solidFill>
              <a:srgbClr val="22C55E"/>
            </a:solidFill>
            <a:prstDash val="solid"/>
          </a:ln>
        </p:spPr>
      </p:sp>
      <p:sp>
        <p:nvSpPr>
          <p:cNvPr id="13" name="Text 11"/>
          <p:cNvSpPr/>
          <p:nvPr/>
        </p:nvSpPr>
        <p:spPr>
          <a:xfrm>
            <a:off x="3383280" y="1243584"/>
            <a:ext cx="2514600" cy="228600"/>
          </a:xfrm>
          <a:prstGeom prst="rect">
            <a:avLst/>
          </a:prstGeom>
          <a:noFill/>
          <a:ln/>
        </p:spPr>
        <p:txBody>
          <a:bodyPr wrap="square" rtlCol="0" anchor="ctr"/>
          <a:lstStyle/>
          <a:p>
            <a:pPr indent="0" marL="0">
              <a:buNone/>
            </a:pPr>
            <a:r>
              <a:rPr lang="en-US" sz="800" b="1" spc="80" kern="0" dirty="0">
                <a:solidFill>
                  <a:srgbClr val="22C55E"/>
                </a:solidFill>
                <a:latin typeface="Calibri" pitchFamily="34" charset="0"/>
                <a:ea typeface="Calibri" pitchFamily="34" charset="-122"/>
                <a:cs typeface="Calibri" pitchFamily="34" charset="-120"/>
              </a:rPr>
              <a:t>WPA3</a:t>
            </a:r>
            <a:endParaRPr lang="en-US" sz="800" dirty="0"/>
          </a:p>
        </p:txBody>
      </p:sp>
      <p:sp>
        <p:nvSpPr>
          <p:cNvPr id="14" name="Shape 12"/>
          <p:cNvSpPr/>
          <p:nvPr/>
        </p:nvSpPr>
        <p:spPr>
          <a:xfrm>
            <a:off x="3383280" y="1499616"/>
            <a:ext cx="2487168" cy="13716"/>
          </a:xfrm>
          <a:prstGeom prst="rect">
            <a:avLst/>
          </a:prstGeom>
          <a:solidFill>
            <a:srgbClr val="2A2A2A"/>
          </a:solidFill>
          <a:ln w="12700">
            <a:solidFill>
              <a:srgbClr val="2A2A2A"/>
            </a:solidFill>
            <a:prstDash val="solid"/>
          </a:ln>
        </p:spPr>
      </p:sp>
      <p:sp>
        <p:nvSpPr>
          <p:cNvPr id="15" name="Text 13"/>
          <p:cNvSpPr/>
          <p:nvPr/>
        </p:nvSpPr>
        <p:spPr>
          <a:xfrm>
            <a:off x="3383280" y="1554480"/>
            <a:ext cx="2487168" cy="3017520"/>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GCMP (Galois Counter Mode Protocol) — criptografia mais forte baseada em AES</a:t>
            </a:r>
            <a:endParaRPr lang="en-US" sz="1050" dirty="0"/>
          </a:p>
          <a:p>
            <a:pPr marL="342900" indent="-342900">
              <a:buSzPct val="100000"/>
              <a:buChar char="•"/>
            </a:pPr>
            <a:r>
              <a:rPr lang="en-US" sz="1050" b="1" dirty="0">
                <a:solidFill>
                  <a:srgbClr val="F1F5F9"/>
                </a:solidFill>
                <a:latin typeface="Calibri" pitchFamily="34" charset="0"/>
                <a:ea typeface="Calibri" pitchFamily="34" charset="-122"/>
                <a:cs typeface="Calibri" pitchFamily="34" charset="-120"/>
              </a:rPr>
              <a:t>SAE (Simultaneous Authentication of Equals):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Derivado do Diffie-Hellman — 'Dragonfly Handshake'</a:t>
            </a:r>
            <a:endParaRPr lang="en-US" sz="1050" dirty="0"/>
          </a:p>
          <a:p>
            <a:pPr marL="342900" indent="-342900">
              <a:buSzPct val="100000"/>
              <a:buChar char="•"/>
            </a:pPr>
            <a:r>
              <a:rPr lang="en-US" sz="1050" b="1" dirty="0">
                <a:solidFill>
                  <a:srgbClr val="22C55E"/>
                </a:solidFill>
                <a:latin typeface="Calibri" pitchFamily="34" charset="0"/>
                <a:ea typeface="Calibri" pitchFamily="34" charset="-122"/>
                <a:cs typeface="Calibri" pitchFamily="34" charset="-120"/>
              </a:rPr>
              <a:t>Chave de sessão ÚNICA por usuário — mesmo com mesma senha</a:t>
            </a:r>
            <a:endParaRPr lang="en-US" sz="1050" dirty="0"/>
          </a:p>
          <a:p>
            <a:pPr marL="342900" indent="-342900">
              <a:buSzPct val="100000"/>
              <a:buChar char="•"/>
            </a:pPr>
            <a:r>
              <a:rPr lang="en-US" sz="1050" b="1" dirty="0">
                <a:solidFill>
                  <a:srgbClr val="22C55E"/>
                </a:solidFill>
                <a:latin typeface="Calibri" pitchFamily="34" charset="0"/>
                <a:ea typeface="Calibri" pitchFamily="34" charset="-122"/>
                <a:cs typeface="Calibri" pitchFamily="34" charset="-120"/>
              </a:rPr>
              <a:t>Elimina vulnerabilidade de brute force offline do WPA2</a:t>
            </a:r>
            <a:endParaRPr lang="en-US" sz="1050" dirty="0"/>
          </a:p>
        </p:txBody>
      </p:sp>
      <p:sp>
        <p:nvSpPr>
          <p:cNvPr id="16" name="Shape 14"/>
          <p:cNvSpPr/>
          <p:nvPr/>
        </p:nvSpPr>
        <p:spPr>
          <a:xfrm>
            <a:off x="6172200" y="1170432"/>
            <a:ext cx="2724912" cy="3493008"/>
          </a:xfrm>
          <a:prstGeom prst="rect">
            <a:avLst/>
          </a:prstGeom>
          <a:solidFill>
            <a:srgbClr val="1F1F1F"/>
          </a:solidFill>
          <a:ln w="6350">
            <a:solidFill>
              <a:srgbClr val="2A2A2A"/>
            </a:solidFill>
            <a:prstDash val="solid"/>
          </a:ln>
        </p:spPr>
      </p:sp>
      <p:sp>
        <p:nvSpPr>
          <p:cNvPr id="17" name="Shape 15"/>
          <p:cNvSpPr/>
          <p:nvPr/>
        </p:nvSpPr>
        <p:spPr>
          <a:xfrm>
            <a:off x="6172200" y="1170432"/>
            <a:ext cx="36576" cy="3493008"/>
          </a:xfrm>
          <a:prstGeom prst="rect">
            <a:avLst/>
          </a:prstGeom>
          <a:solidFill>
            <a:srgbClr val="06B6D4"/>
          </a:solidFill>
          <a:ln w="12700">
            <a:solidFill>
              <a:srgbClr val="06B6D4"/>
            </a:solidFill>
            <a:prstDash val="solid"/>
          </a:ln>
        </p:spPr>
      </p:sp>
      <p:sp>
        <p:nvSpPr>
          <p:cNvPr id="18" name="Text 16"/>
          <p:cNvSpPr/>
          <p:nvPr/>
        </p:nvSpPr>
        <p:spPr>
          <a:xfrm>
            <a:off x="6309360" y="1243584"/>
            <a:ext cx="2514600" cy="228600"/>
          </a:xfrm>
          <a:prstGeom prst="rect">
            <a:avLst/>
          </a:prstGeom>
          <a:noFill/>
          <a:ln/>
        </p:spPr>
        <p:txBody>
          <a:bodyPr wrap="square" rtlCol="0" anchor="ctr"/>
          <a:lstStyle/>
          <a:p>
            <a:pPr indent="0" marL="0">
              <a:buNone/>
            </a:pPr>
            <a:r>
              <a:rPr lang="en-US" sz="800" b="1" spc="80" kern="0" dirty="0">
                <a:solidFill>
                  <a:srgbClr val="06B6D4"/>
                </a:solidFill>
                <a:latin typeface="Calibri" pitchFamily="34" charset="0"/>
                <a:ea typeface="Calibri" pitchFamily="34" charset="-122"/>
                <a:cs typeface="Calibri" pitchFamily="34" charset="-120"/>
              </a:rPr>
              <a:t>802.1X / ENTERPRISE</a:t>
            </a:r>
            <a:endParaRPr lang="en-US" sz="800" dirty="0"/>
          </a:p>
        </p:txBody>
      </p:sp>
      <p:sp>
        <p:nvSpPr>
          <p:cNvPr id="19" name="Shape 17"/>
          <p:cNvSpPr/>
          <p:nvPr/>
        </p:nvSpPr>
        <p:spPr>
          <a:xfrm>
            <a:off x="6309360" y="1499616"/>
            <a:ext cx="2487168" cy="13716"/>
          </a:xfrm>
          <a:prstGeom prst="rect">
            <a:avLst/>
          </a:prstGeom>
          <a:solidFill>
            <a:srgbClr val="2A2A2A"/>
          </a:solidFill>
          <a:ln w="12700">
            <a:solidFill>
              <a:srgbClr val="2A2A2A"/>
            </a:solidFill>
            <a:prstDash val="solid"/>
          </a:ln>
        </p:spPr>
      </p:sp>
      <p:sp>
        <p:nvSpPr>
          <p:cNvPr id="20" name="Text 18"/>
          <p:cNvSpPr/>
          <p:nvPr/>
        </p:nvSpPr>
        <p:spPr>
          <a:xfrm>
            <a:off x="6309360" y="1554480"/>
            <a:ext cx="2487168" cy="3017520"/>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Usuário e senha individuais — sem PSK compartilhada</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Integra com servidor AAA (RADIUS) para autenticação centralizada</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EAP encapsula credenciais no processo</a:t>
            </a:r>
            <a:endParaRPr lang="en-US" sz="1050" dirty="0"/>
          </a:p>
          <a:p>
            <a:pPr marL="342900" indent="-342900">
              <a:buSzPct val="100000"/>
              <a:buChar char="•"/>
            </a:pPr>
            <a:r>
              <a:rPr lang="en-US" sz="1050" b="1" dirty="0">
                <a:solidFill>
                  <a:srgbClr val="06B6D4"/>
                </a:solidFill>
                <a:latin typeface="Calibri" pitchFamily="34" charset="0"/>
                <a:ea typeface="Calibri" pitchFamily="34" charset="-122"/>
                <a:cs typeface="Calibri" pitchFamily="34" charset="-120"/>
              </a:rPr>
              <a:t>AAA: Autenticação + Autorização + Accounting (logs de sessão)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Ideal para ambientes corporativos — cada usuário tem sua credencial</a:t>
            </a:r>
            <a:endParaRPr lang="en-US" sz="1050" dirty="0"/>
          </a:p>
        </p:txBody>
      </p:sp>
      <p:sp>
        <p:nvSpPr>
          <p:cNvPr id="21" name="Shape 19"/>
          <p:cNvSpPr/>
          <p:nvPr/>
        </p:nvSpPr>
        <p:spPr>
          <a:xfrm>
            <a:off x="0" y="4846320"/>
            <a:ext cx="9144000" cy="297180"/>
          </a:xfrm>
          <a:prstGeom prst="rect">
            <a:avLst/>
          </a:prstGeom>
          <a:solidFill>
            <a:srgbClr val="1F1F1F"/>
          </a:solidFill>
          <a:ln w="12700">
            <a:solidFill>
              <a:srgbClr val="1F1F1F"/>
            </a:solidFill>
            <a:prstDash val="solid"/>
          </a:ln>
        </p:spPr>
      </p:sp>
      <p:sp>
        <p:nvSpPr>
          <p:cNvPr id="22" name="Text 20"/>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Security+ SY0-701  ·  Domínio 4  ·  Security Operations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w="12700">
            <a:solidFill>
              <a:srgbClr val="22C55E"/>
            </a:solidFill>
            <a:prstDash val="solid"/>
          </a:ln>
        </p:spPr>
      </p:sp>
      <p:sp>
        <p:nvSpPr>
          <p:cNvPr id="3" name="Text 1"/>
          <p:cNvSpPr/>
          <p:nvPr/>
        </p:nvSpPr>
        <p:spPr>
          <a:xfrm>
            <a:off x="320040" y="256032"/>
            <a:ext cx="8229600" cy="475488"/>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Gerenciamento de Ativos</a:t>
            </a:r>
            <a:endParaRPr lang="en-US" sz="2200" dirty="0"/>
          </a:p>
        </p:txBody>
      </p:sp>
      <p:sp>
        <p:nvSpPr>
          <p:cNvPr id="4" name="Text 2"/>
          <p:cNvSpPr/>
          <p:nvPr/>
        </p:nvSpPr>
        <p:spPr>
          <a:xfrm>
            <a:off x="320040" y="749808"/>
            <a:ext cx="8229600" cy="256032"/>
          </a:xfrm>
          <a:prstGeom prst="rect">
            <a:avLst/>
          </a:prstGeom>
          <a:noFill/>
          <a:ln/>
        </p:spPr>
        <p:txBody>
          <a:bodyPr wrap="square" rtlCol="0" anchor="ctr"/>
          <a:lstStyle/>
          <a:p>
            <a:pPr indent="0" marL="0">
              <a:buNone/>
            </a:pPr>
            <a:r>
              <a:rPr lang="en-US" sz="850" b="1" spc="100" kern="0" dirty="0">
                <a:solidFill>
                  <a:srgbClr val="22C55E"/>
                </a:solidFill>
                <a:latin typeface="Calibri" pitchFamily="34" charset="0"/>
                <a:ea typeface="Calibri" pitchFamily="34" charset="-122"/>
                <a:cs typeface="Calibri" pitchFamily="34" charset="-120"/>
              </a:rPr>
              <a:t>ASSET TRACKING  ·  INVENTÁRIO  ·  DATA SANITIZATION  ·  DESTRUIÇÃO  ·  RETENÇÃO</a:t>
            </a:r>
            <a:endParaRPr lang="en-US" sz="850" dirty="0"/>
          </a:p>
        </p:txBody>
      </p:sp>
      <p:sp>
        <p:nvSpPr>
          <p:cNvPr id="5" name="Shape 3"/>
          <p:cNvSpPr/>
          <p:nvPr/>
        </p:nvSpPr>
        <p:spPr>
          <a:xfrm>
            <a:off x="320040" y="1051560"/>
            <a:ext cx="8503920" cy="13716"/>
          </a:xfrm>
          <a:prstGeom prst="rect">
            <a:avLst/>
          </a:prstGeom>
          <a:solidFill>
            <a:srgbClr val="2A2A2A"/>
          </a:solidFill>
          <a:ln w="12700">
            <a:solidFill>
              <a:srgbClr val="2A2A2A"/>
            </a:solidFill>
            <a:prstDash val="solid"/>
          </a:ln>
        </p:spPr>
      </p:sp>
      <p:sp>
        <p:nvSpPr>
          <p:cNvPr id="6" name="Shape 4"/>
          <p:cNvSpPr/>
          <p:nvPr/>
        </p:nvSpPr>
        <p:spPr>
          <a:xfrm>
            <a:off x="320040" y="1170432"/>
            <a:ext cx="4114800" cy="2121408"/>
          </a:xfrm>
          <a:prstGeom prst="rect">
            <a:avLst/>
          </a:prstGeom>
          <a:solidFill>
            <a:srgbClr val="1F1F1F"/>
          </a:solidFill>
          <a:ln w="6350">
            <a:solidFill>
              <a:srgbClr val="2A2A2A"/>
            </a:solidFill>
            <a:prstDash val="solid"/>
          </a:ln>
        </p:spPr>
      </p:sp>
      <p:sp>
        <p:nvSpPr>
          <p:cNvPr id="7" name="Shape 5"/>
          <p:cNvSpPr/>
          <p:nvPr/>
        </p:nvSpPr>
        <p:spPr>
          <a:xfrm>
            <a:off x="320040" y="1170432"/>
            <a:ext cx="36576" cy="2121408"/>
          </a:xfrm>
          <a:prstGeom prst="rect">
            <a:avLst/>
          </a:prstGeom>
          <a:solidFill>
            <a:srgbClr val="22C55E"/>
          </a:solidFill>
          <a:ln w="12700">
            <a:solidFill>
              <a:srgbClr val="22C55E"/>
            </a:solidFill>
            <a:prstDash val="solid"/>
          </a:ln>
        </p:spPr>
      </p:sp>
      <p:sp>
        <p:nvSpPr>
          <p:cNvPr id="8" name="Text 6"/>
          <p:cNvSpPr/>
          <p:nvPr/>
        </p:nvSpPr>
        <p:spPr>
          <a:xfrm>
            <a:off x="457200" y="1261872"/>
            <a:ext cx="3913632" cy="228600"/>
          </a:xfrm>
          <a:prstGeom prst="rect">
            <a:avLst/>
          </a:prstGeom>
          <a:noFill/>
          <a:ln/>
        </p:spPr>
        <p:txBody>
          <a:bodyPr wrap="square" rtlCol="0" anchor="ctr"/>
          <a:lstStyle/>
          <a:p>
            <a:pPr indent="0" marL="0">
              <a:buNone/>
            </a:pPr>
            <a:r>
              <a:rPr lang="en-US" sz="800" b="1" spc="80" kern="0" dirty="0">
                <a:solidFill>
                  <a:srgbClr val="22C55E"/>
                </a:solidFill>
                <a:latin typeface="Calibri" pitchFamily="34" charset="0"/>
                <a:ea typeface="Calibri" pitchFamily="34" charset="-122"/>
                <a:cs typeface="Calibri" pitchFamily="34" charset="-120"/>
              </a:rPr>
              <a:t>RASTREAMENTO DE ATIVOS</a:t>
            </a:r>
            <a:endParaRPr lang="en-US" sz="800" dirty="0"/>
          </a:p>
        </p:txBody>
      </p:sp>
      <p:sp>
        <p:nvSpPr>
          <p:cNvPr id="9" name="Shape 7"/>
          <p:cNvSpPr/>
          <p:nvPr/>
        </p:nvSpPr>
        <p:spPr>
          <a:xfrm>
            <a:off x="457200" y="1517904"/>
            <a:ext cx="3886200" cy="13716"/>
          </a:xfrm>
          <a:prstGeom prst="rect">
            <a:avLst/>
          </a:prstGeom>
          <a:solidFill>
            <a:srgbClr val="2A2A2A"/>
          </a:solidFill>
          <a:ln w="12700">
            <a:solidFill>
              <a:srgbClr val="2A2A2A"/>
            </a:solidFill>
            <a:prstDash val="solid"/>
          </a:ln>
        </p:spPr>
      </p:sp>
      <p:sp>
        <p:nvSpPr>
          <p:cNvPr id="10" name="Text 8"/>
          <p:cNvSpPr/>
          <p:nvPr/>
        </p:nvSpPr>
        <p:spPr>
          <a:xfrm>
            <a:off x="457200" y="1591056"/>
            <a:ext cx="3886200" cy="1609344"/>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Sistema central registra todo o ciclo de vida do ativo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Proprietário do ativo, tipo de dispositivo, localização na rede</a:t>
            </a:r>
            <a:endParaRPr lang="en-US" sz="1050" dirty="0"/>
          </a:p>
          <a:p>
            <a:pPr marL="342900" indent="-342900">
              <a:buSzPct val="100000"/>
              <a:buChar char="•"/>
            </a:pPr>
            <a:r>
              <a:rPr lang="en-US" sz="1050" b="1" dirty="0">
                <a:solidFill>
                  <a:srgbClr val="06B6D4"/>
                </a:solidFill>
                <a:latin typeface="Calibri" pitchFamily="34" charset="0"/>
                <a:ea typeface="Calibri" pitchFamily="34" charset="-122"/>
                <a:cs typeface="Calibri" pitchFamily="34" charset="-120"/>
              </a:rPr>
              <a:t>Hardware = CapEx (depreciação)  ·  Software = OpEx — importante para contabilidade</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Tags físicas de ativo — identificação e segurança contra roubo</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Enumeração: visualiza dispositivo completo ou componentes (CPU, RAM)</a:t>
            </a:r>
            <a:endParaRPr lang="en-US" sz="1050" dirty="0"/>
          </a:p>
        </p:txBody>
      </p:sp>
      <p:sp>
        <p:nvSpPr>
          <p:cNvPr id="11" name="Shape 9"/>
          <p:cNvSpPr/>
          <p:nvPr/>
        </p:nvSpPr>
        <p:spPr>
          <a:xfrm>
            <a:off x="4663440" y="1170432"/>
            <a:ext cx="4160520" cy="2121408"/>
          </a:xfrm>
          <a:prstGeom prst="rect">
            <a:avLst/>
          </a:prstGeom>
          <a:solidFill>
            <a:srgbClr val="1F1F1F"/>
          </a:solidFill>
          <a:ln w="6350">
            <a:solidFill>
              <a:srgbClr val="2A2A2A"/>
            </a:solidFill>
            <a:prstDash val="solid"/>
          </a:ln>
        </p:spPr>
      </p:sp>
      <p:sp>
        <p:nvSpPr>
          <p:cNvPr id="12" name="Shape 10"/>
          <p:cNvSpPr/>
          <p:nvPr/>
        </p:nvSpPr>
        <p:spPr>
          <a:xfrm>
            <a:off x="4663440" y="1170432"/>
            <a:ext cx="36576" cy="2121408"/>
          </a:xfrm>
          <a:prstGeom prst="rect">
            <a:avLst/>
          </a:prstGeom>
          <a:solidFill>
            <a:srgbClr val="EF4444"/>
          </a:solidFill>
          <a:ln w="12700">
            <a:solidFill>
              <a:srgbClr val="EF4444"/>
            </a:solidFill>
            <a:prstDash val="solid"/>
          </a:ln>
        </p:spPr>
      </p:sp>
      <p:sp>
        <p:nvSpPr>
          <p:cNvPr id="13" name="Text 11"/>
          <p:cNvSpPr/>
          <p:nvPr/>
        </p:nvSpPr>
        <p:spPr>
          <a:xfrm>
            <a:off x="4800600" y="1261872"/>
            <a:ext cx="3959352" cy="228600"/>
          </a:xfrm>
          <a:prstGeom prst="rect">
            <a:avLst/>
          </a:prstGeom>
          <a:noFill/>
          <a:ln/>
        </p:spPr>
        <p:txBody>
          <a:bodyPr wrap="square" rtlCol="0" anchor="ctr"/>
          <a:lstStyle/>
          <a:p>
            <a:pPr indent="0" marL="0">
              <a:buNone/>
            </a:pPr>
            <a:r>
              <a:rPr lang="en-US" sz="800" b="1" spc="80" kern="0" dirty="0">
                <a:solidFill>
                  <a:srgbClr val="EF4444"/>
                </a:solidFill>
                <a:latin typeface="Calibri" pitchFamily="34" charset="0"/>
                <a:ea typeface="Calibri" pitchFamily="34" charset="-122"/>
                <a:cs typeface="Calibri" pitchFamily="34" charset="-120"/>
              </a:rPr>
              <a:t>SANITIZAÇÃO E DESTRUIÇÃO</a:t>
            </a:r>
            <a:endParaRPr lang="en-US" sz="800" dirty="0"/>
          </a:p>
        </p:txBody>
      </p:sp>
      <p:sp>
        <p:nvSpPr>
          <p:cNvPr id="14" name="Shape 12"/>
          <p:cNvSpPr/>
          <p:nvPr/>
        </p:nvSpPr>
        <p:spPr>
          <a:xfrm>
            <a:off x="4800600" y="1517904"/>
            <a:ext cx="3931920" cy="13716"/>
          </a:xfrm>
          <a:prstGeom prst="rect">
            <a:avLst/>
          </a:prstGeom>
          <a:solidFill>
            <a:srgbClr val="2A2A2A"/>
          </a:solidFill>
          <a:ln w="12700">
            <a:solidFill>
              <a:srgbClr val="2A2A2A"/>
            </a:solidFill>
            <a:prstDash val="solid"/>
          </a:ln>
        </p:spPr>
      </p:sp>
      <p:sp>
        <p:nvSpPr>
          <p:cNvPr id="15" name="Text 13"/>
          <p:cNvSpPr/>
          <p:nvPr/>
        </p:nvSpPr>
        <p:spPr>
          <a:xfrm>
            <a:off x="4800600" y="1591056"/>
            <a:ext cx="3931920" cy="1609344"/>
          </a:xfrm>
          <a:prstGeom prst="rect">
            <a:avLst/>
          </a:prstGeom>
          <a:noFill/>
          <a:ln/>
        </p:spPr>
        <p:txBody>
          <a:bodyPr wrap="square" rtlCol="0" anchor="t"/>
          <a:lstStyle/>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Secure Delete: exclusão segura para reutilização interna</a:t>
            </a:r>
            <a:endParaRPr lang="en-US" sz="1050" dirty="0"/>
          </a:p>
          <a:p>
            <a:pPr marL="342900" indent="-342900">
              <a:buSzPct val="100000"/>
              <a:buChar char="•"/>
            </a:pPr>
            <a:r>
              <a:rPr lang="en-US" sz="1050" b="1" dirty="0">
                <a:solidFill>
                  <a:srgbClr val="F1F5F9"/>
                </a:solidFill>
                <a:latin typeface="Calibri" pitchFamily="34" charset="0"/>
                <a:ea typeface="Calibri" pitchFamily="34" charset="-122"/>
                <a:cs typeface="Calibri" pitchFamily="34" charset="-120"/>
              </a:rPr>
              <a:t>Destruição física para garantia máxima:</a:t>
            </a:r>
            <a:endParaRPr lang="en-US" sz="1050" dirty="0"/>
          </a:p>
          <a:p>
            <a:pPr marL="342900" indent="-342900">
              <a:buSzPct val="100000"/>
              <a:buChar char="•"/>
            </a:pPr>
            <a:r>
              <a:rPr lang="en-US" sz="1050" b="1" dirty="0">
                <a:solidFill>
                  <a:srgbClr val="EF4444"/>
                </a:solidFill>
                <a:latin typeface="Calibri" pitchFamily="34" charset="0"/>
                <a:ea typeface="Calibri" pitchFamily="34" charset="-122"/>
                <a:cs typeface="Calibri" pitchFamily="34" charset="-120"/>
              </a:rPr>
              <a:t>Trituração/pulverização industrial</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Martelo ou furadeira nos pratos magnéticos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Degaussing: campo eletromagnético forte apaga HDDs</a:t>
            </a:r>
            <a:endParaRPr lang="en-US" sz="1050" dirty="0"/>
          </a:p>
          <a:p>
            <a:pPr marL="342900" indent="-342900">
              <a:buSzPct val="100000"/>
              <a:buChar char="•"/>
            </a:pPr>
            <a:r>
              <a:rPr lang="en-US" sz="1050" dirty="0">
                <a:solidFill>
                  <a:srgbClr val="94A3B8"/>
                </a:solidFill>
                <a:latin typeface="Calibri" pitchFamily="34" charset="0"/>
                <a:ea typeface="Calibri" pitchFamily="34" charset="-122"/>
                <a:cs typeface="Calibri" pitchFamily="34" charset="-120"/>
              </a:rPr>
              <a:t>Incineração</a:t>
            </a:r>
            <a:endParaRPr lang="en-US" sz="1050" dirty="0"/>
          </a:p>
          <a:p>
            <a:pPr marL="342900" indent="-342900">
              <a:buSzPct val="100000"/>
              <a:buChar char="•"/>
            </a:pPr>
            <a:r>
              <a:rPr lang="en-US" sz="1050" b="1" dirty="0">
                <a:solidFill>
                  <a:srgbClr val="06B6D4"/>
                </a:solidFill>
                <a:latin typeface="Calibri" pitchFamily="34" charset="0"/>
                <a:ea typeface="Calibri" pitchFamily="34" charset="-122"/>
                <a:cs typeface="Calibri" pitchFamily="34" charset="-120"/>
              </a:rPr>
              <a:t>Certificado de Destruição: documento que comprova destruição segura</a:t>
            </a:r>
            <a:endParaRPr lang="en-US" sz="1050" dirty="0"/>
          </a:p>
        </p:txBody>
      </p:sp>
      <p:sp>
        <p:nvSpPr>
          <p:cNvPr id="16" name="Shape 14"/>
          <p:cNvSpPr/>
          <p:nvPr/>
        </p:nvSpPr>
        <p:spPr>
          <a:xfrm>
            <a:off x="320040" y="3419856"/>
            <a:ext cx="8503920" cy="1335024"/>
          </a:xfrm>
          <a:prstGeom prst="rect">
            <a:avLst/>
          </a:prstGeom>
          <a:solidFill>
            <a:srgbClr val="1F1F1F"/>
          </a:solidFill>
          <a:ln w="6350">
            <a:solidFill>
              <a:srgbClr val="2A2A2A"/>
            </a:solidFill>
            <a:prstDash val="solid"/>
          </a:ln>
        </p:spPr>
      </p:sp>
      <p:sp>
        <p:nvSpPr>
          <p:cNvPr id="17" name="Shape 15"/>
          <p:cNvSpPr/>
          <p:nvPr/>
        </p:nvSpPr>
        <p:spPr>
          <a:xfrm>
            <a:off x="320040" y="3419856"/>
            <a:ext cx="36576" cy="1335024"/>
          </a:xfrm>
          <a:prstGeom prst="rect">
            <a:avLst/>
          </a:prstGeom>
          <a:solidFill>
            <a:srgbClr val="F59E0B"/>
          </a:solidFill>
          <a:ln w="12700">
            <a:solidFill>
              <a:srgbClr val="F59E0B"/>
            </a:solidFill>
            <a:prstDash val="solid"/>
          </a:ln>
        </p:spPr>
      </p:sp>
      <p:sp>
        <p:nvSpPr>
          <p:cNvPr id="18" name="Text 16"/>
          <p:cNvSpPr/>
          <p:nvPr/>
        </p:nvSpPr>
        <p:spPr>
          <a:xfrm>
            <a:off x="457200" y="3493008"/>
            <a:ext cx="8321040" cy="228600"/>
          </a:xfrm>
          <a:prstGeom prst="rect">
            <a:avLst/>
          </a:prstGeom>
          <a:noFill/>
          <a:ln/>
        </p:spPr>
        <p:txBody>
          <a:bodyPr wrap="square" rtlCol="0" anchor="ctr"/>
          <a:lstStyle/>
          <a:p>
            <a:pPr indent="0" marL="0">
              <a:buNone/>
            </a:pPr>
            <a:r>
              <a:rPr lang="en-US" sz="800" b="1" spc="50" kern="0" dirty="0">
                <a:solidFill>
                  <a:srgbClr val="F59E0B"/>
                </a:solidFill>
                <a:latin typeface="Calibri" pitchFamily="34" charset="0"/>
                <a:ea typeface="Calibri" pitchFamily="34" charset="-122"/>
                <a:cs typeface="Calibri" pitchFamily="34" charset="-120"/>
              </a:rPr>
              <a:t>RETENÇÃO DE DADOS</a:t>
            </a:r>
            <a:endParaRPr lang="en-US" sz="800" dirty="0"/>
          </a:p>
        </p:txBody>
      </p:sp>
      <p:sp>
        <p:nvSpPr>
          <p:cNvPr id="19" name="Text 17"/>
          <p:cNvSpPr/>
          <p:nvPr/>
        </p:nvSpPr>
        <p:spPr>
          <a:xfrm>
            <a:off x="457200" y="3767328"/>
            <a:ext cx="8321040" cy="91440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Políticas definem por quanto tempo dados originais, cópias e backups devem ser mantidos — por motivos legais e regulatórios. Mandatos podem exigir e-mails ou dados financeiros por anos. Fundamental para backup, recuperação de desastres e conformidade legal.</a:t>
            </a:r>
            <a:endParaRPr lang="en-US" sz="1050" dirty="0"/>
          </a:p>
        </p:txBody>
      </p:sp>
      <p:sp>
        <p:nvSpPr>
          <p:cNvPr id="20" name="Shape 18"/>
          <p:cNvSpPr/>
          <p:nvPr/>
        </p:nvSpPr>
        <p:spPr>
          <a:xfrm>
            <a:off x="0" y="4846320"/>
            <a:ext cx="9144000" cy="297180"/>
          </a:xfrm>
          <a:prstGeom prst="rect">
            <a:avLst/>
          </a:prstGeom>
          <a:solidFill>
            <a:srgbClr val="1F1F1F"/>
          </a:solidFill>
          <a:ln w="12700">
            <a:solidFill>
              <a:srgbClr val="1F1F1F"/>
            </a:solidFill>
            <a:prstDash val="solid"/>
          </a:ln>
        </p:spPr>
      </p:sp>
      <p:sp>
        <p:nvSpPr>
          <p:cNvPr id="21" name="Text 19"/>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Security+ SY0-701  ·  Domínio 4  ·  Security Operations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F4444"/>
          </a:solidFill>
          <a:ln w="12700">
            <a:solidFill>
              <a:srgbClr val="EF4444"/>
            </a:solidFill>
            <a:prstDash val="solid"/>
          </a:ln>
        </p:spPr>
      </p:sp>
      <p:sp>
        <p:nvSpPr>
          <p:cNvPr id="3" name="Text 1"/>
          <p:cNvSpPr/>
          <p:nvPr/>
        </p:nvSpPr>
        <p:spPr>
          <a:xfrm>
            <a:off x="320040" y="201168"/>
            <a:ext cx="8229600" cy="475488"/>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Pontos Críticos para a Prova</a:t>
            </a:r>
            <a:endParaRPr lang="en-US" sz="2200" dirty="0"/>
          </a:p>
        </p:txBody>
      </p:sp>
      <p:sp>
        <p:nvSpPr>
          <p:cNvPr id="4" name="Shape 2"/>
          <p:cNvSpPr/>
          <p:nvPr/>
        </p:nvSpPr>
        <p:spPr>
          <a:xfrm>
            <a:off x="320040" y="713232"/>
            <a:ext cx="8503920" cy="13716"/>
          </a:xfrm>
          <a:prstGeom prst="rect">
            <a:avLst/>
          </a:prstGeom>
          <a:solidFill>
            <a:srgbClr val="2A2A2A"/>
          </a:solidFill>
          <a:ln w="12700">
            <a:solidFill>
              <a:srgbClr val="2A2A2A"/>
            </a:solidFill>
            <a:prstDash val="solid"/>
          </a:ln>
        </p:spPr>
      </p:sp>
      <p:sp>
        <p:nvSpPr>
          <p:cNvPr id="5" name="Shape 3"/>
          <p:cNvSpPr/>
          <p:nvPr/>
        </p:nvSpPr>
        <p:spPr>
          <a:xfrm>
            <a:off x="320040" y="841248"/>
            <a:ext cx="4251960" cy="566928"/>
          </a:xfrm>
          <a:prstGeom prst="rect">
            <a:avLst/>
          </a:prstGeom>
          <a:solidFill>
            <a:srgbClr val="1F1F1F"/>
          </a:solidFill>
          <a:ln w="3810">
            <a:solidFill>
              <a:srgbClr val="2A2A2A"/>
            </a:solidFill>
            <a:prstDash val="solid"/>
          </a:ln>
        </p:spPr>
      </p:sp>
      <p:sp>
        <p:nvSpPr>
          <p:cNvPr id="6" name="Shape 4"/>
          <p:cNvSpPr/>
          <p:nvPr/>
        </p:nvSpPr>
        <p:spPr>
          <a:xfrm>
            <a:off x="320040" y="932688"/>
            <a:ext cx="27432" cy="384048"/>
          </a:xfrm>
          <a:prstGeom prst="rect">
            <a:avLst/>
          </a:prstGeom>
          <a:solidFill>
            <a:srgbClr val="06B6D4"/>
          </a:solidFill>
          <a:ln w="12700">
            <a:solidFill>
              <a:srgbClr val="06B6D4"/>
            </a:solidFill>
            <a:prstDash val="solid"/>
          </a:ln>
        </p:spPr>
      </p:sp>
      <p:sp>
        <p:nvSpPr>
          <p:cNvPr id="7" name="Text 5"/>
          <p:cNvSpPr/>
          <p:nvPr/>
        </p:nvSpPr>
        <p:spPr>
          <a:xfrm>
            <a:off x="484632" y="841248"/>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Secure Baseline = configuração mínima de segurança obrigatória ao implantar</a:t>
            </a:r>
            <a:endParaRPr lang="en-US" sz="950" dirty="0"/>
          </a:p>
        </p:txBody>
      </p:sp>
      <p:sp>
        <p:nvSpPr>
          <p:cNvPr id="8" name="Shape 6"/>
          <p:cNvSpPr/>
          <p:nvPr/>
        </p:nvSpPr>
        <p:spPr>
          <a:xfrm>
            <a:off x="4754880" y="841248"/>
            <a:ext cx="4251960" cy="566928"/>
          </a:xfrm>
          <a:prstGeom prst="rect">
            <a:avLst/>
          </a:prstGeom>
          <a:solidFill>
            <a:srgbClr val="1F1F1F"/>
          </a:solidFill>
          <a:ln w="3810">
            <a:solidFill>
              <a:srgbClr val="2A2A2A"/>
            </a:solidFill>
            <a:prstDash val="solid"/>
          </a:ln>
        </p:spPr>
      </p:sp>
      <p:sp>
        <p:nvSpPr>
          <p:cNvPr id="9" name="Shape 7"/>
          <p:cNvSpPr/>
          <p:nvPr/>
        </p:nvSpPr>
        <p:spPr>
          <a:xfrm>
            <a:off x="4754880" y="932688"/>
            <a:ext cx="27432" cy="384048"/>
          </a:xfrm>
          <a:prstGeom prst="rect">
            <a:avLst/>
          </a:prstGeom>
          <a:solidFill>
            <a:srgbClr val="06B6D4"/>
          </a:solidFill>
          <a:ln w="12700">
            <a:solidFill>
              <a:srgbClr val="06B6D4"/>
            </a:solidFill>
            <a:prstDash val="solid"/>
          </a:ln>
        </p:spPr>
      </p:sp>
      <p:sp>
        <p:nvSpPr>
          <p:cNvPr id="10" name="Text 8"/>
          <p:cNvSpPr/>
          <p:nvPr/>
        </p:nvSpPr>
        <p:spPr>
          <a:xfrm>
            <a:off x="4919472" y="841248"/>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SCT (Security Compliance Toolkit) = ferramenta Microsoft para deploy de baselines</a:t>
            </a:r>
            <a:endParaRPr lang="en-US" sz="950" dirty="0"/>
          </a:p>
        </p:txBody>
      </p:sp>
      <p:sp>
        <p:nvSpPr>
          <p:cNvPr id="11" name="Shape 9"/>
          <p:cNvSpPr/>
          <p:nvPr/>
        </p:nvSpPr>
        <p:spPr>
          <a:xfrm>
            <a:off x="320040" y="1536192"/>
            <a:ext cx="4251960" cy="566928"/>
          </a:xfrm>
          <a:prstGeom prst="rect">
            <a:avLst/>
          </a:prstGeom>
          <a:solidFill>
            <a:srgbClr val="1F1F1F"/>
          </a:solidFill>
          <a:ln w="3810">
            <a:solidFill>
              <a:srgbClr val="2A2A2A"/>
            </a:solidFill>
            <a:prstDash val="solid"/>
          </a:ln>
        </p:spPr>
      </p:sp>
      <p:sp>
        <p:nvSpPr>
          <p:cNvPr id="12" name="Shape 10"/>
          <p:cNvSpPr/>
          <p:nvPr/>
        </p:nvSpPr>
        <p:spPr>
          <a:xfrm>
            <a:off x="320040" y="1627632"/>
            <a:ext cx="27432" cy="384048"/>
          </a:xfrm>
          <a:prstGeom prst="rect">
            <a:avLst/>
          </a:prstGeom>
          <a:solidFill>
            <a:srgbClr val="EF4444"/>
          </a:solidFill>
          <a:ln w="12700">
            <a:solidFill>
              <a:srgbClr val="EF4444"/>
            </a:solidFill>
            <a:prstDash val="solid"/>
          </a:ln>
        </p:spPr>
      </p:sp>
      <p:sp>
        <p:nvSpPr>
          <p:cNvPr id="13" name="Text 11"/>
          <p:cNvSpPr/>
          <p:nvPr/>
        </p:nvSpPr>
        <p:spPr>
          <a:xfrm>
            <a:off x="484632" y="1536192"/>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WPA2: handshake capturável + brute force offline. WPA3: SAE elimina esse risco</a:t>
            </a:r>
            <a:endParaRPr lang="en-US" sz="950" dirty="0"/>
          </a:p>
        </p:txBody>
      </p:sp>
      <p:sp>
        <p:nvSpPr>
          <p:cNvPr id="14" name="Shape 12"/>
          <p:cNvSpPr/>
          <p:nvPr/>
        </p:nvSpPr>
        <p:spPr>
          <a:xfrm>
            <a:off x="4754880" y="1536192"/>
            <a:ext cx="4251960" cy="566928"/>
          </a:xfrm>
          <a:prstGeom prst="rect">
            <a:avLst/>
          </a:prstGeom>
          <a:solidFill>
            <a:srgbClr val="1F1F1F"/>
          </a:solidFill>
          <a:ln w="3810">
            <a:solidFill>
              <a:srgbClr val="2A2A2A"/>
            </a:solidFill>
            <a:prstDash val="solid"/>
          </a:ln>
        </p:spPr>
      </p:sp>
      <p:sp>
        <p:nvSpPr>
          <p:cNvPr id="15" name="Shape 13"/>
          <p:cNvSpPr/>
          <p:nvPr/>
        </p:nvSpPr>
        <p:spPr>
          <a:xfrm>
            <a:off x="4754880" y="1627632"/>
            <a:ext cx="27432" cy="384048"/>
          </a:xfrm>
          <a:prstGeom prst="rect">
            <a:avLst/>
          </a:prstGeom>
          <a:solidFill>
            <a:srgbClr val="22C55E"/>
          </a:solidFill>
          <a:ln w="12700">
            <a:solidFill>
              <a:srgbClr val="22C55E"/>
            </a:solidFill>
            <a:prstDash val="solid"/>
          </a:ln>
        </p:spPr>
      </p:sp>
      <p:sp>
        <p:nvSpPr>
          <p:cNvPr id="16" name="Text 14"/>
          <p:cNvSpPr/>
          <p:nvPr/>
        </p:nvSpPr>
        <p:spPr>
          <a:xfrm>
            <a:off x="4919472" y="1536192"/>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SAE / Dragonfly Handshake: chave de sessão única por usuário mesmo com mesma senha</a:t>
            </a:r>
            <a:endParaRPr lang="en-US" sz="950" dirty="0"/>
          </a:p>
        </p:txBody>
      </p:sp>
      <p:sp>
        <p:nvSpPr>
          <p:cNvPr id="17" name="Shape 15"/>
          <p:cNvSpPr/>
          <p:nvPr/>
        </p:nvSpPr>
        <p:spPr>
          <a:xfrm>
            <a:off x="320040" y="2231136"/>
            <a:ext cx="4251960" cy="566928"/>
          </a:xfrm>
          <a:prstGeom prst="rect">
            <a:avLst/>
          </a:prstGeom>
          <a:solidFill>
            <a:srgbClr val="1F1F1F"/>
          </a:solidFill>
          <a:ln w="3810">
            <a:solidFill>
              <a:srgbClr val="2A2A2A"/>
            </a:solidFill>
            <a:prstDash val="solid"/>
          </a:ln>
        </p:spPr>
      </p:sp>
      <p:sp>
        <p:nvSpPr>
          <p:cNvPr id="18" name="Shape 16"/>
          <p:cNvSpPr/>
          <p:nvPr/>
        </p:nvSpPr>
        <p:spPr>
          <a:xfrm>
            <a:off x="320040" y="2322576"/>
            <a:ext cx="27432" cy="384048"/>
          </a:xfrm>
          <a:prstGeom prst="rect">
            <a:avLst/>
          </a:prstGeom>
          <a:solidFill>
            <a:srgbClr val="F59E0B"/>
          </a:solidFill>
          <a:ln w="12700">
            <a:solidFill>
              <a:srgbClr val="F59E0B"/>
            </a:solidFill>
            <a:prstDash val="solid"/>
          </a:ln>
        </p:spPr>
      </p:sp>
      <p:sp>
        <p:nvSpPr>
          <p:cNvPr id="19" name="Text 17"/>
          <p:cNvSpPr/>
          <p:nvPr/>
        </p:nvSpPr>
        <p:spPr>
          <a:xfrm>
            <a:off x="484632" y="2231136"/>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PSK = mesma senha para todos (doméstico). Enterprise = 802.1X + RADIUS (corporativo)</a:t>
            </a:r>
            <a:endParaRPr lang="en-US" sz="950" dirty="0"/>
          </a:p>
        </p:txBody>
      </p:sp>
      <p:sp>
        <p:nvSpPr>
          <p:cNvPr id="20" name="Shape 18"/>
          <p:cNvSpPr/>
          <p:nvPr/>
        </p:nvSpPr>
        <p:spPr>
          <a:xfrm>
            <a:off x="4754880" y="2231136"/>
            <a:ext cx="4251960" cy="566928"/>
          </a:xfrm>
          <a:prstGeom prst="rect">
            <a:avLst/>
          </a:prstGeom>
          <a:solidFill>
            <a:srgbClr val="1F1F1F"/>
          </a:solidFill>
          <a:ln w="3810">
            <a:solidFill>
              <a:srgbClr val="2A2A2A"/>
            </a:solidFill>
            <a:prstDash val="solid"/>
          </a:ln>
        </p:spPr>
      </p:sp>
      <p:sp>
        <p:nvSpPr>
          <p:cNvPr id="21" name="Shape 19"/>
          <p:cNvSpPr/>
          <p:nvPr/>
        </p:nvSpPr>
        <p:spPr>
          <a:xfrm>
            <a:off x="4754880" y="2322576"/>
            <a:ext cx="27432" cy="384048"/>
          </a:xfrm>
          <a:prstGeom prst="rect">
            <a:avLst/>
          </a:prstGeom>
          <a:solidFill>
            <a:srgbClr val="8B5CF6"/>
          </a:solidFill>
          <a:ln w="12700">
            <a:solidFill>
              <a:srgbClr val="8B5CF6"/>
            </a:solidFill>
            <a:prstDash val="solid"/>
          </a:ln>
        </p:spPr>
      </p:sp>
      <p:sp>
        <p:nvSpPr>
          <p:cNvPr id="22" name="Text 20"/>
          <p:cNvSpPr/>
          <p:nvPr/>
        </p:nvSpPr>
        <p:spPr>
          <a:xfrm>
            <a:off x="4919472" y="2231136"/>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BYOD: dispositivo pessoal + MDM obrigatório. COPE: empresa compra + uso pessoal</a:t>
            </a:r>
            <a:endParaRPr lang="en-US" sz="950" dirty="0"/>
          </a:p>
        </p:txBody>
      </p:sp>
      <p:sp>
        <p:nvSpPr>
          <p:cNvPr id="23" name="Shape 21"/>
          <p:cNvSpPr/>
          <p:nvPr/>
        </p:nvSpPr>
        <p:spPr>
          <a:xfrm>
            <a:off x="320040" y="2926080"/>
            <a:ext cx="4251960" cy="566928"/>
          </a:xfrm>
          <a:prstGeom prst="rect">
            <a:avLst/>
          </a:prstGeom>
          <a:solidFill>
            <a:srgbClr val="1F1F1F"/>
          </a:solidFill>
          <a:ln w="3810">
            <a:solidFill>
              <a:srgbClr val="2A2A2A"/>
            </a:solidFill>
            <a:prstDash val="solid"/>
          </a:ln>
        </p:spPr>
      </p:sp>
      <p:sp>
        <p:nvSpPr>
          <p:cNvPr id="24" name="Shape 22"/>
          <p:cNvSpPr/>
          <p:nvPr/>
        </p:nvSpPr>
        <p:spPr>
          <a:xfrm>
            <a:off x="320040" y="3017520"/>
            <a:ext cx="27432" cy="384048"/>
          </a:xfrm>
          <a:prstGeom prst="rect">
            <a:avLst/>
          </a:prstGeom>
          <a:solidFill>
            <a:srgbClr val="06B6D4"/>
          </a:solidFill>
          <a:ln w="12700">
            <a:solidFill>
              <a:srgbClr val="06B6D4"/>
            </a:solidFill>
            <a:prstDash val="solid"/>
          </a:ln>
        </p:spPr>
      </p:sp>
      <p:sp>
        <p:nvSpPr>
          <p:cNvPr id="25" name="Text 23"/>
          <p:cNvSpPr/>
          <p:nvPr/>
        </p:nvSpPr>
        <p:spPr>
          <a:xfrm>
            <a:off x="484632" y="2926080"/>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Site Survey + Heat Map: mapeia força do sinal e identifica interferências</a:t>
            </a:r>
            <a:endParaRPr lang="en-US" sz="950" dirty="0"/>
          </a:p>
        </p:txBody>
      </p:sp>
      <p:sp>
        <p:nvSpPr>
          <p:cNvPr id="26" name="Shape 24"/>
          <p:cNvSpPr/>
          <p:nvPr/>
        </p:nvSpPr>
        <p:spPr>
          <a:xfrm>
            <a:off x="4754880" y="2926080"/>
            <a:ext cx="4251960" cy="566928"/>
          </a:xfrm>
          <a:prstGeom prst="rect">
            <a:avLst/>
          </a:prstGeom>
          <a:solidFill>
            <a:srgbClr val="1F1F1F"/>
          </a:solidFill>
          <a:ln w="3810">
            <a:solidFill>
              <a:srgbClr val="2A2A2A"/>
            </a:solidFill>
            <a:prstDash val="solid"/>
          </a:ln>
        </p:spPr>
      </p:sp>
      <p:sp>
        <p:nvSpPr>
          <p:cNvPr id="27" name="Shape 25"/>
          <p:cNvSpPr/>
          <p:nvPr/>
        </p:nvSpPr>
        <p:spPr>
          <a:xfrm>
            <a:off x="4754880" y="3017520"/>
            <a:ext cx="27432" cy="384048"/>
          </a:xfrm>
          <a:prstGeom prst="rect">
            <a:avLst/>
          </a:prstGeom>
          <a:solidFill>
            <a:srgbClr val="EF4444"/>
          </a:solidFill>
          <a:ln w="12700">
            <a:solidFill>
              <a:srgbClr val="EF4444"/>
            </a:solidFill>
            <a:prstDash val="solid"/>
          </a:ln>
        </p:spPr>
      </p:sp>
      <p:sp>
        <p:nvSpPr>
          <p:cNvPr id="28" name="Text 26"/>
          <p:cNvSpPr/>
          <p:nvPr/>
        </p:nvSpPr>
        <p:spPr>
          <a:xfrm>
            <a:off x="4919472" y="2926080"/>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SCADA/ICS: air gap + segurança física. IoT: rede segmentada separada</a:t>
            </a:r>
            <a:endParaRPr lang="en-US" sz="950" dirty="0"/>
          </a:p>
        </p:txBody>
      </p:sp>
      <p:sp>
        <p:nvSpPr>
          <p:cNvPr id="29" name="Shape 27"/>
          <p:cNvSpPr/>
          <p:nvPr/>
        </p:nvSpPr>
        <p:spPr>
          <a:xfrm>
            <a:off x="320040" y="3621024"/>
            <a:ext cx="4251960" cy="566928"/>
          </a:xfrm>
          <a:prstGeom prst="rect">
            <a:avLst/>
          </a:prstGeom>
          <a:solidFill>
            <a:srgbClr val="1F1F1F"/>
          </a:solidFill>
          <a:ln w="3810">
            <a:solidFill>
              <a:srgbClr val="2A2A2A"/>
            </a:solidFill>
            <a:prstDash val="solid"/>
          </a:ln>
        </p:spPr>
      </p:sp>
      <p:sp>
        <p:nvSpPr>
          <p:cNvPr id="30" name="Shape 28"/>
          <p:cNvSpPr/>
          <p:nvPr/>
        </p:nvSpPr>
        <p:spPr>
          <a:xfrm>
            <a:off x="320040" y="3712464"/>
            <a:ext cx="27432" cy="384048"/>
          </a:xfrm>
          <a:prstGeom prst="rect">
            <a:avLst/>
          </a:prstGeom>
          <a:solidFill>
            <a:srgbClr val="F59E0B"/>
          </a:solidFill>
          <a:ln w="12700">
            <a:solidFill>
              <a:srgbClr val="F59E0B"/>
            </a:solidFill>
            <a:prstDash val="solid"/>
          </a:ln>
        </p:spPr>
      </p:sp>
      <p:sp>
        <p:nvSpPr>
          <p:cNvPr id="31" name="Text 29"/>
          <p:cNvSpPr/>
          <p:nvPr/>
        </p:nvSpPr>
        <p:spPr>
          <a:xfrm>
            <a:off x="484632" y="3621024"/>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Degaussing: apaga HDDs com campo magnético — não funciona em SSDs</a:t>
            </a:r>
            <a:endParaRPr lang="en-US" sz="950" dirty="0"/>
          </a:p>
        </p:txBody>
      </p:sp>
      <p:sp>
        <p:nvSpPr>
          <p:cNvPr id="32" name="Shape 30"/>
          <p:cNvSpPr/>
          <p:nvPr/>
        </p:nvSpPr>
        <p:spPr>
          <a:xfrm>
            <a:off x="4754880" y="3621024"/>
            <a:ext cx="4251960" cy="566928"/>
          </a:xfrm>
          <a:prstGeom prst="rect">
            <a:avLst/>
          </a:prstGeom>
          <a:solidFill>
            <a:srgbClr val="1F1F1F"/>
          </a:solidFill>
          <a:ln w="3810">
            <a:solidFill>
              <a:srgbClr val="2A2A2A"/>
            </a:solidFill>
            <a:prstDash val="solid"/>
          </a:ln>
        </p:spPr>
      </p:sp>
      <p:sp>
        <p:nvSpPr>
          <p:cNvPr id="33" name="Shape 31"/>
          <p:cNvSpPr/>
          <p:nvPr/>
        </p:nvSpPr>
        <p:spPr>
          <a:xfrm>
            <a:off x="4754880" y="3712464"/>
            <a:ext cx="27432" cy="384048"/>
          </a:xfrm>
          <a:prstGeom prst="rect">
            <a:avLst/>
          </a:prstGeom>
          <a:solidFill>
            <a:srgbClr val="94A3B8"/>
          </a:solidFill>
          <a:ln w="12700">
            <a:solidFill>
              <a:srgbClr val="94A3B8"/>
            </a:solidFill>
            <a:prstDash val="solid"/>
          </a:ln>
        </p:spPr>
      </p:sp>
      <p:sp>
        <p:nvSpPr>
          <p:cNvPr id="34" name="Text 32"/>
          <p:cNvSpPr/>
          <p:nvPr/>
        </p:nvSpPr>
        <p:spPr>
          <a:xfrm>
            <a:off x="4919472" y="3621024"/>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Certificado de Destruição: comprova que dados foram destruídos de forma segura</a:t>
            </a:r>
            <a:endParaRPr lang="en-US" sz="950" dirty="0"/>
          </a:p>
        </p:txBody>
      </p:sp>
      <p:sp>
        <p:nvSpPr>
          <p:cNvPr id="35" name="Shape 33"/>
          <p:cNvSpPr/>
          <p:nvPr/>
        </p:nvSpPr>
        <p:spPr>
          <a:xfrm>
            <a:off x="320040" y="4315968"/>
            <a:ext cx="4251960" cy="566928"/>
          </a:xfrm>
          <a:prstGeom prst="rect">
            <a:avLst/>
          </a:prstGeom>
          <a:solidFill>
            <a:srgbClr val="1F1F1F"/>
          </a:solidFill>
          <a:ln w="3810">
            <a:solidFill>
              <a:srgbClr val="2A2A2A"/>
            </a:solidFill>
            <a:prstDash val="solid"/>
          </a:ln>
        </p:spPr>
      </p:sp>
      <p:sp>
        <p:nvSpPr>
          <p:cNvPr id="36" name="Shape 34"/>
          <p:cNvSpPr/>
          <p:nvPr/>
        </p:nvSpPr>
        <p:spPr>
          <a:xfrm>
            <a:off x="320040" y="4407408"/>
            <a:ext cx="27432" cy="384048"/>
          </a:xfrm>
          <a:prstGeom prst="rect">
            <a:avLst/>
          </a:prstGeom>
          <a:solidFill>
            <a:srgbClr val="94A3B8"/>
          </a:solidFill>
          <a:ln w="12700">
            <a:solidFill>
              <a:srgbClr val="94A3B8"/>
            </a:solidFill>
            <a:prstDash val="solid"/>
          </a:ln>
        </p:spPr>
      </p:sp>
      <p:sp>
        <p:nvSpPr>
          <p:cNvPr id="37" name="Text 35"/>
          <p:cNvSpPr/>
          <p:nvPr/>
        </p:nvSpPr>
        <p:spPr>
          <a:xfrm>
            <a:off x="484632" y="4315968"/>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CapEx (hardware/depreciação) vs OpEx (software/licença) — importante para auditoria</a:t>
            </a:r>
            <a:endParaRPr lang="en-US" sz="950" dirty="0"/>
          </a:p>
        </p:txBody>
      </p:sp>
      <p:sp>
        <p:nvSpPr>
          <p:cNvPr id="38" name="Shape 36"/>
          <p:cNvSpPr/>
          <p:nvPr/>
        </p:nvSpPr>
        <p:spPr>
          <a:xfrm>
            <a:off x="4754880" y="4315968"/>
            <a:ext cx="4251960" cy="566928"/>
          </a:xfrm>
          <a:prstGeom prst="rect">
            <a:avLst/>
          </a:prstGeom>
          <a:solidFill>
            <a:srgbClr val="1F1F1F"/>
          </a:solidFill>
          <a:ln w="3810">
            <a:solidFill>
              <a:srgbClr val="2A2A2A"/>
            </a:solidFill>
            <a:prstDash val="solid"/>
          </a:ln>
        </p:spPr>
      </p:sp>
      <p:sp>
        <p:nvSpPr>
          <p:cNvPr id="39" name="Shape 37"/>
          <p:cNvSpPr/>
          <p:nvPr/>
        </p:nvSpPr>
        <p:spPr>
          <a:xfrm>
            <a:off x="4754880" y="4407408"/>
            <a:ext cx="27432" cy="384048"/>
          </a:xfrm>
          <a:prstGeom prst="rect">
            <a:avLst/>
          </a:prstGeom>
          <a:solidFill>
            <a:srgbClr val="22C55E"/>
          </a:solidFill>
          <a:ln w="12700">
            <a:solidFill>
              <a:srgbClr val="22C55E"/>
            </a:solidFill>
            <a:prstDash val="solid"/>
          </a:ln>
        </p:spPr>
      </p:sp>
      <p:sp>
        <p:nvSpPr>
          <p:cNvPr id="40" name="Text 38"/>
          <p:cNvSpPr/>
          <p:nvPr/>
        </p:nvSpPr>
        <p:spPr>
          <a:xfrm>
            <a:off x="4919472" y="4315968"/>
            <a:ext cx="4023360" cy="566928"/>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Retenção de dados: política define por quanto tempo backups e dados devem ser mantidos</a:t>
            </a:r>
            <a:endParaRPr lang="en-US" sz="950" dirty="0"/>
          </a:p>
        </p:txBody>
      </p:sp>
      <p:sp>
        <p:nvSpPr>
          <p:cNvPr id="41" name="Shape 39"/>
          <p:cNvSpPr/>
          <p:nvPr/>
        </p:nvSpPr>
        <p:spPr>
          <a:xfrm>
            <a:off x="0" y="4846320"/>
            <a:ext cx="9144000" cy="297180"/>
          </a:xfrm>
          <a:prstGeom prst="rect">
            <a:avLst/>
          </a:prstGeom>
          <a:solidFill>
            <a:srgbClr val="1F1F1F"/>
          </a:solidFill>
          <a:ln w="12700">
            <a:solidFill>
              <a:srgbClr val="1F1F1F"/>
            </a:solidFill>
            <a:prstDash val="solid"/>
          </a:ln>
        </p:spPr>
      </p:sp>
      <p:sp>
        <p:nvSpPr>
          <p:cNvPr id="42" name="Text 40"/>
          <p:cNvSpPr/>
          <p:nvPr/>
        </p:nvSpPr>
        <p:spPr>
          <a:xfrm>
            <a:off x="320040" y="4864608"/>
            <a:ext cx="8229600" cy="256032"/>
          </a:xfrm>
          <a:prstGeom prst="rect">
            <a:avLst/>
          </a:prstGeom>
          <a:noFill/>
          <a:ln/>
        </p:spPr>
        <p:txBody>
          <a:bodyPr wrap="square"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Security+ SY0-701  ·  Domínio 4  ·  Security Operations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SY0-701 — 4.1 Security Operations</dc:title>
  <dc:subject>PptxGenJS Presentation</dc:subject>
  <dc:creator>PptxGenJS</dc:creator>
  <cp:lastModifiedBy>PptxGenJS</cp:lastModifiedBy>
  <cp:revision>1</cp:revision>
  <dcterms:created xsi:type="dcterms:W3CDTF">2026-03-21T01:03:33Z</dcterms:created>
  <dcterms:modified xsi:type="dcterms:W3CDTF">2026-03-21T01:03:33Z</dcterms:modified>
</cp:coreProperties>
</file>